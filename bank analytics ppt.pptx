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84" r:id="rId2"/>
    <p:sldId id="257" r:id="rId3"/>
    <p:sldId id="258" r:id="rId4"/>
    <p:sldId id="269" r:id="rId5"/>
    <p:sldId id="260" r:id="rId6"/>
    <p:sldId id="273" r:id="rId7"/>
    <p:sldId id="274" r:id="rId8"/>
    <p:sldId id="275" r:id="rId9"/>
    <p:sldId id="276" r:id="rId10"/>
    <p:sldId id="278" r:id="rId11"/>
    <p:sldId id="280" r:id="rId12"/>
    <p:sldId id="267" r:id="rId13"/>
    <p:sldId id="268" r:id="rId14"/>
    <p:sldId id="262" r:id="rId15"/>
    <p:sldId id="265" r:id="rId16"/>
    <p:sldId id="266" r:id="rId17"/>
    <p:sldId id="270" r:id="rId18"/>
    <p:sldId id="281" r:id="rId19"/>
    <p:sldId id="271" r:id="rId20"/>
    <p:sldId id="272" r:id="rId21"/>
    <p:sldId id="282" r:id="rId22"/>
    <p:sldId id="28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293734-0D10-2AEA-FD15-FBC2F0E492EF}" v="780" dt="2025-11-07T06:48:17.999"/>
    <p1510:client id="{7D385A69-15FF-9811-E17B-29B8AD2A0E58}" v="38" dt="2025-11-07T11:28:10.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5A069CB8-F204-4D06-B913-C5A26A89888A}" type="datetimeFigureOut">
              <a:rPr lang="en-US" dirty="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4250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30BB376-B19C-488D-ABEB-03C7E6E9E3E0}" type="datetimeFigureOut">
              <a:rPr lang="en-US" dirty="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29637A9-119A-49DA-BD12-AAC58B377D80}" type="slidenum">
              <a:rPr lang="en-US" dirty="0"/>
              <a:t>‹#›</a:t>
            </a:fld>
            <a:endParaRPr lang="en-US" dirty="0"/>
          </a:p>
        </p:txBody>
      </p:sp>
    </p:spTree>
    <p:extLst>
      <p:ext uri="{BB962C8B-B14F-4D97-AF65-F5344CB8AC3E}">
        <p14:creationId xmlns:p14="http://schemas.microsoft.com/office/powerpoint/2010/main" val="1151442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86F077B-A50F-4D64-8574-E2D6A98A5553}" type="datetimeFigureOut">
              <a:rPr lang="en-US" dirty="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423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dirty="0"/>
              <a:t>Click to edit Master title style</a:t>
            </a:r>
          </a:p>
        </p:txBody>
      </p:sp>
      <p:sp>
        <p:nvSpPr>
          <p:cNvPr id="3" name="Content Placeholder 2"/>
          <p:cNvSpPr>
            <a:spLocks noGrp="1"/>
          </p:cNvSpPr>
          <p:nvPr>
            <p:ph sz="half" idx="1"/>
          </p:nvPr>
        </p:nvSpPr>
        <p:spPr>
          <a:xfrm>
            <a:off x="1097278" y="1845734"/>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D9E2A62-1983-43A1-A163-D8AA46534C80}" type="datetimeFigureOut">
              <a:rPr lang="en-US" dirty="0"/>
              <a:t>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582777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dirty="0"/>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98F3E3B-34E3-4345-B2A1-994B83598A9C}" type="datetimeFigureOut">
              <a:rPr lang="en-US" dirty="0"/>
              <a:t>11/7/2025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655605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FD816C96-82A1-4D77-8ADA-627AC6FE3D65}" type="datetimeFigureOut">
              <a:rPr lang="en-US" dirty="0"/>
              <a:t>11/7/2025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59198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102C1E-28F2-47E9-802D-339E64E2F920}" type="datetimeFigureOut">
              <a:rPr lang="en-US" dirty="0"/>
              <a:t>11/7/2025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952612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dirty="0"/>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dirty="0"/>
              <a:t>11/7/2025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2943431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dirty="0"/>
              <a:t>Click to edit Master title style</a:t>
            </a:r>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65B747F8-9654-4282-85D2-65F41AAE7A75}" type="datetimeFigureOut">
              <a:rPr lang="en-US" dirty="0"/>
              <a:t>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068164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0B6E300-0A13-4A81-945A-7333C271A069}" type="datetimeFigureOut">
              <a:rPr lang="en-US" dirty="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283869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4671962-1EA4-46E7-BCB0-F36CE46D1A59}" type="datetimeFigureOut">
              <a:rPr lang="en-US" dirty="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464205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dirty="0"/>
              <a:t>11/7/2025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9029268"/>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8A123F-1C2E-BDEC-FDB7-06F4C3796335}"/>
              </a:ext>
            </a:extLst>
          </p:cNvPr>
          <p:cNvSpPr txBox="1"/>
          <p:nvPr/>
        </p:nvSpPr>
        <p:spPr>
          <a:xfrm>
            <a:off x="1701451" y="641959"/>
            <a:ext cx="9373644" cy="26468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i="0" u="none" strike="noStrike" baseline="0" dirty="0">
                <a:solidFill>
                  <a:schemeClr val="accent1"/>
                </a:solidFill>
                <a:latin typeface="Calibri Light"/>
                <a:ea typeface="Calibri Light"/>
                <a:cs typeface="Calibri Light"/>
              </a:rPr>
              <a:t>BANK DATA ANALYSIS REPORT</a:t>
            </a:r>
            <a:endParaRPr lang="en-US" dirty="0">
              <a:solidFill>
                <a:schemeClr val="accent1"/>
              </a:solidFill>
              <a:ea typeface="Calibri" panose="020F0502020204030204"/>
              <a:cs typeface="Calibri" panose="020F0502020204030204"/>
            </a:endParaRPr>
          </a:p>
          <a:p>
            <a:endParaRPr lang="en-US" sz="5400" b="1" dirty="0">
              <a:solidFill>
                <a:schemeClr val="accent1"/>
              </a:solidFill>
              <a:latin typeface="Calibri Light"/>
              <a:ea typeface="Calibri Light"/>
              <a:cs typeface="Calibri Light"/>
            </a:endParaRPr>
          </a:p>
          <a:p>
            <a:r>
              <a:rPr lang="en-US" sz="4000" b="1" dirty="0">
                <a:solidFill>
                  <a:schemeClr val="accent1"/>
                </a:solidFill>
                <a:latin typeface="Calibri Light"/>
                <a:ea typeface="Calibri Light"/>
                <a:cs typeface="Calibri Light"/>
              </a:rPr>
              <a:t>           DATA ANALYST | Nov 2025</a:t>
            </a:r>
          </a:p>
          <a:p>
            <a:pPr algn="ctr"/>
            <a:endParaRPr lang="en-US">
              <a:ea typeface="Calibri" panose="020F0502020204030204"/>
              <a:cs typeface="Calibri" panose="020F0502020204030204"/>
            </a:endParaRPr>
          </a:p>
        </p:txBody>
      </p:sp>
      <p:sp>
        <p:nvSpPr>
          <p:cNvPr id="3" name="TextBox 2">
            <a:extLst>
              <a:ext uri="{FF2B5EF4-FFF2-40B4-BE49-F238E27FC236}">
                <a16:creationId xmlns:a16="http://schemas.microsoft.com/office/drawing/2014/main" id="{34DBA47F-182C-50B5-5841-B53D100FE5D4}"/>
              </a:ext>
            </a:extLst>
          </p:cNvPr>
          <p:cNvSpPr txBox="1"/>
          <p:nvPr/>
        </p:nvSpPr>
        <p:spPr>
          <a:xfrm>
            <a:off x="7614268" y="3584536"/>
            <a:ext cx="3664902" cy="22775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Calibri"/>
                <a:cs typeface="Calibri"/>
              </a:rPr>
              <a:t>TEAM MEMBERS</a:t>
            </a:r>
          </a:p>
          <a:p>
            <a:endParaRPr lang="en-US" dirty="0">
              <a:ea typeface="Calibri"/>
              <a:cs typeface="Calibri"/>
            </a:endParaRPr>
          </a:p>
          <a:p>
            <a:r>
              <a:rPr lang="en-US" sz="2000" dirty="0">
                <a:ea typeface="Calibri"/>
                <a:cs typeface="Calibri"/>
              </a:rPr>
              <a:t>1.Anilkumar </a:t>
            </a:r>
            <a:r>
              <a:rPr lang="en-US" sz="2000" dirty="0" err="1">
                <a:ea typeface="Calibri"/>
                <a:cs typeface="Calibri"/>
              </a:rPr>
              <a:t>Mallappa</a:t>
            </a:r>
            <a:r>
              <a:rPr lang="en-US" sz="2000" dirty="0">
                <a:ea typeface="Calibri"/>
                <a:cs typeface="Calibri"/>
              </a:rPr>
              <a:t> Kumbar.</a:t>
            </a:r>
          </a:p>
          <a:p>
            <a:r>
              <a:rPr lang="en-US" sz="2000" dirty="0">
                <a:ea typeface="Calibri"/>
                <a:cs typeface="Calibri"/>
              </a:rPr>
              <a:t>2.Saranya S</a:t>
            </a:r>
          </a:p>
          <a:p>
            <a:r>
              <a:rPr lang="en-US" sz="2000" dirty="0">
                <a:ea typeface="Calibri"/>
                <a:cs typeface="Calibri"/>
              </a:rPr>
              <a:t>3.Yashu Agarwal</a:t>
            </a:r>
          </a:p>
          <a:p>
            <a:r>
              <a:rPr lang="en-US" sz="2000" dirty="0">
                <a:ea typeface="Calibri"/>
                <a:cs typeface="Calibri"/>
              </a:rPr>
              <a:t>4.Sakshi Rajesh </a:t>
            </a:r>
            <a:r>
              <a:rPr lang="en-US" sz="2000" err="1">
                <a:ea typeface="Calibri"/>
                <a:cs typeface="Calibri"/>
              </a:rPr>
              <a:t>Sureban</a:t>
            </a:r>
            <a:endParaRPr lang="en-US" sz="2000" dirty="0">
              <a:ea typeface="Calibri"/>
              <a:cs typeface="Calibri"/>
            </a:endParaRPr>
          </a:p>
          <a:p>
            <a:r>
              <a:rPr lang="en-US" sz="2000" dirty="0">
                <a:ea typeface="Calibri"/>
                <a:cs typeface="Calibri"/>
              </a:rPr>
              <a:t>5.Kaustubh Dhanaji Desai</a:t>
            </a:r>
            <a:endParaRPr lang="en-US" sz="2000" dirty="0"/>
          </a:p>
        </p:txBody>
      </p:sp>
    </p:spTree>
    <p:extLst>
      <p:ext uri="{BB962C8B-B14F-4D97-AF65-F5344CB8AC3E}">
        <p14:creationId xmlns:p14="http://schemas.microsoft.com/office/powerpoint/2010/main" val="2009726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4A7E2-BBCB-9315-8CED-DA6C087ED3D9}"/>
              </a:ext>
            </a:extLst>
          </p:cNvPr>
          <p:cNvSpPr>
            <a:spLocks noGrp="1"/>
          </p:cNvSpPr>
          <p:nvPr>
            <p:ph type="title"/>
          </p:nvPr>
        </p:nvSpPr>
        <p:spPr>
          <a:xfrm>
            <a:off x="1097280" y="286603"/>
            <a:ext cx="10058400" cy="1189799"/>
          </a:xfrm>
        </p:spPr>
        <p:txBody>
          <a:bodyPr>
            <a:normAutofit/>
          </a:bodyPr>
          <a:lstStyle/>
          <a:p>
            <a:r>
              <a:rPr lang="en-US" sz="3200" b="1" dirty="0">
                <a:solidFill>
                  <a:schemeClr val="accent1"/>
                </a:solidFill>
              </a:rPr>
              <a:t>INTRODUCTION</a:t>
            </a:r>
          </a:p>
        </p:txBody>
      </p:sp>
      <p:sp>
        <p:nvSpPr>
          <p:cNvPr id="3" name="Content Placeholder 2">
            <a:extLst>
              <a:ext uri="{FF2B5EF4-FFF2-40B4-BE49-F238E27FC236}">
                <a16:creationId xmlns:a16="http://schemas.microsoft.com/office/drawing/2014/main" id="{884C8E89-B7DC-9F21-C31C-7F65F8ED0D94}"/>
              </a:ext>
            </a:extLst>
          </p:cNvPr>
          <p:cNvSpPr>
            <a:spLocks noGrp="1"/>
          </p:cNvSpPr>
          <p:nvPr>
            <p:ph idx="1"/>
          </p:nvPr>
        </p:nvSpPr>
        <p:spPr>
          <a:xfrm>
            <a:off x="1097280" y="2294583"/>
            <a:ext cx="10058400" cy="3574511"/>
          </a:xfrm>
        </p:spPr>
        <p:txBody>
          <a:bodyPr vert="horz" lIns="91440" tIns="45720" rIns="91440" bIns="45720" rtlCol="0" anchor="t">
            <a:normAutofit/>
          </a:bodyPr>
          <a:lstStyle/>
          <a:p>
            <a:pPr marL="342900" indent="-342900">
              <a:buFont typeface="Wingdings" panose="020F0502020204030204" pitchFamily="34" charset="0"/>
              <a:buChar char="v"/>
            </a:pPr>
            <a:r>
              <a:rPr lang="en-US" b="1" dirty="0">
                <a:latin typeface="Calibri Light"/>
                <a:ea typeface="+mn-lt"/>
                <a:cs typeface="+mn-lt"/>
              </a:rPr>
              <a:t>Domain:</a:t>
            </a:r>
            <a:r>
              <a:rPr lang="en-US" dirty="0">
                <a:latin typeface="Calibri Light"/>
                <a:ea typeface="+mn-lt"/>
                <a:cs typeface="+mn-lt"/>
              </a:rPr>
              <a:t> Banking</a:t>
            </a:r>
            <a:endParaRPr lang="en-US" dirty="0">
              <a:latin typeface="Calibri" panose="020F0502020204030204"/>
              <a:ea typeface="+mn-lt"/>
              <a:cs typeface="+mn-lt"/>
            </a:endParaRPr>
          </a:p>
          <a:p>
            <a:pPr marL="342900" indent="-342900">
              <a:buFont typeface="Wingdings" panose="020F0502020204030204" pitchFamily="34" charset="0"/>
              <a:buChar char="v"/>
            </a:pPr>
            <a:r>
              <a:rPr lang="en-US" b="1" dirty="0">
                <a:latin typeface="Calibri Light"/>
                <a:ea typeface="+mn-lt"/>
                <a:cs typeface="+mn-lt"/>
              </a:rPr>
              <a:t>Business Problem:</a:t>
            </a:r>
            <a:r>
              <a:rPr lang="en-US" dirty="0">
                <a:latin typeface="Calibri Light"/>
                <a:ea typeface="+mn-lt"/>
                <a:cs typeface="+mn-lt"/>
              </a:rPr>
              <a:t> Inefficient loan tracking and lack of insights into repayment behavior, branch performance, and customer demographics.</a:t>
            </a:r>
            <a:endParaRPr lang="en-US" dirty="0">
              <a:latin typeface="Calibri" panose="020F0502020204030204"/>
              <a:ea typeface="+mn-lt"/>
              <a:cs typeface="+mn-lt"/>
            </a:endParaRPr>
          </a:p>
          <a:p>
            <a:pPr marL="342900" indent="-342900">
              <a:buFont typeface="Wingdings" panose="020F0502020204030204" pitchFamily="34" charset="0"/>
              <a:buChar char="v"/>
            </a:pPr>
            <a:r>
              <a:rPr lang="en-US" b="1" dirty="0">
                <a:latin typeface="Calibri Light"/>
                <a:ea typeface="+mn-lt"/>
                <a:cs typeface="+mn-lt"/>
              </a:rPr>
              <a:t>Goal:</a:t>
            </a:r>
            <a:r>
              <a:rPr lang="en-US" dirty="0">
                <a:latin typeface="Calibri Light"/>
                <a:ea typeface="+mn-lt"/>
                <a:cs typeface="+mn-lt"/>
              </a:rPr>
              <a:t> Analyze loan data to identify trends, measure performance, and</a:t>
            </a:r>
            <a:r>
              <a:rPr lang="en-US" dirty="0">
                <a:latin typeface="Calibri"/>
                <a:ea typeface="+mn-lt"/>
                <a:cs typeface="+mn-lt"/>
              </a:rPr>
              <a:t> </a:t>
            </a:r>
            <a:r>
              <a:rPr lang="en-US" dirty="0">
                <a:ea typeface="+mn-lt"/>
                <a:cs typeface="+mn-lt"/>
              </a:rPr>
              <a:t>improve  financial decision-making for better risk management and revenue growth.</a:t>
            </a:r>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1481619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B611F-B380-3047-61F8-073E8581AD46}"/>
              </a:ext>
            </a:extLst>
          </p:cNvPr>
          <p:cNvSpPr>
            <a:spLocks noGrp="1"/>
          </p:cNvSpPr>
          <p:nvPr>
            <p:ph type="title"/>
          </p:nvPr>
        </p:nvSpPr>
        <p:spPr>
          <a:xfrm>
            <a:off x="1097280" y="286603"/>
            <a:ext cx="10058400" cy="1076946"/>
          </a:xfrm>
        </p:spPr>
        <p:txBody>
          <a:bodyPr/>
          <a:lstStyle/>
          <a:p>
            <a:r>
              <a:rPr lang="en-US" sz="3200" b="1" dirty="0">
                <a:solidFill>
                  <a:schemeClr val="accent1"/>
                </a:solidFill>
                <a:ea typeface="Calibri Light"/>
                <a:cs typeface="Calibri Light"/>
              </a:rPr>
              <a:t>DATA OVERVIEW</a:t>
            </a:r>
          </a:p>
        </p:txBody>
      </p:sp>
      <p:sp>
        <p:nvSpPr>
          <p:cNvPr id="3" name="Content Placeholder 2">
            <a:extLst>
              <a:ext uri="{FF2B5EF4-FFF2-40B4-BE49-F238E27FC236}">
                <a16:creationId xmlns:a16="http://schemas.microsoft.com/office/drawing/2014/main" id="{FEF8F4D8-D9DA-568C-F68F-DAED22A02642}"/>
              </a:ext>
            </a:extLst>
          </p:cNvPr>
          <p:cNvSpPr>
            <a:spLocks noGrp="1"/>
          </p:cNvSpPr>
          <p:nvPr>
            <p:ph idx="1"/>
          </p:nvPr>
        </p:nvSpPr>
        <p:spPr/>
        <p:txBody>
          <a:bodyPr vert="horz" lIns="0" tIns="45720" rIns="0" bIns="45720" rtlCol="0" anchor="t">
            <a:normAutofit lnSpcReduction="10000"/>
          </a:bodyPr>
          <a:lstStyle/>
          <a:p>
            <a:r>
              <a:rPr lang="en-US" dirty="0">
                <a:solidFill>
                  <a:srgbClr val="00B0F0"/>
                </a:solidFill>
                <a:ea typeface="Calibri"/>
                <a:cs typeface="Calibri"/>
              </a:rPr>
              <a:t>Files :</a:t>
            </a:r>
            <a:r>
              <a:rPr lang="en-US" dirty="0">
                <a:ea typeface="Calibri"/>
                <a:cs typeface="Calibri"/>
              </a:rPr>
              <a:t> Bank Data Analytics.xlsx ,Debit and Credit banking_data.xlsx</a:t>
            </a:r>
          </a:p>
          <a:p>
            <a:r>
              <a:rPr lang="en-US" dirty="0">
                <a:solidFill>
                  <a:srgbClr val="00B0F0"/>
                </a:solidFill>
                <a:ea typeface="Calibri"/>
                <a:cs typeface="Calibri"/>
              </a:rPr>
              <a:t>Size</a:t>
            </a:r>
            <a:r>
              <a:rPr lang="en-US" dirty="0">
                <a:ea typeface="Calibri"/>
                <a:cs typeface="Calibri"/>
              </a:rPr>
              <a:t> :~65,000 rows  and 25 columns across all files</a:t>
            </a:r>
          </a:p>
          <a:p>
            <a:r>
              <a:rPr lang="en-US" dirty="0">
                <a:solidFill>
                  <a:srgbClr val="00B0F0"/>
                </a:solidFill>
                <a:ea typeface="Calibri"/>
                <a:cs typeface="Calibri"/>
              </a:rPr>
              <a:t>Key Columns:</a:t>
            </a:r>
            <a:r>
              <a:rPr lang="en-US" dirty="0">
                <a:ea typeface="+mn-lt"/>
                <a:cs typeface="+mn-lt"/>
              </a:rPr>
              <a:t> Account id, Age, BH Name, Bank Name, Branch Name, Caste, Center id, Client Name, close client, closed date, credit officer name, date of birth, dish by, disbursement date(years),gender id, home ownership, loan status ,loan transfer date, next meeting date, product code, grade, subgrade, product ID, purpose category, region name, religion, verification status, state name, transfer logic, is delinquent loan, is default loan, </a:t>
            </a:r>
            <a:r>
              <a:rPr lang="en-US" err="1">
                <a:ea typeface="+mn-lt"/>
                <a:cs typeface="+mn-lt"/>
              </a:rPr>
              <a:t>age_T</a:t>
            </a:r>
            <a:r>
              <a:rPr lang="en-US" dirty="0">
                <a:ea typeface="+mn-lt"/>
                <a:cs typeface="+mn-lt"/>
              </a:rPr>
              <a:t>, delinquent 2 years, application type, loan amount, funded amount, amount funded amount inv, term, total payment, total payment inv, total </a:t>
            </a:r>
            <a:r>
              <a:rPr lang="en-US" err="1">
                <a:ea typeface="+mn-lt"/>
                <a:cs typeface="+mn-lt"/>
              </a:rPr>
              <a:t>rect</a:t>
            </a:r>
            <a:r>
              <a:rPr lang="en-US" dirty="0">
                <a:ea typeface="+mn-lt"/>
                <a:cs typeface="+mn-lt"/>
              </a:rPr>
              <a:t> </a:t>
            </a:r>
            <a:r>
              <a:rPr lang="en-US" err="1">
                <a:ea typeface="+mn-lt"/>
                <a:cs typeface="+mn-lt"/>
              </a:rPr>
              <a:t>prncp</a:t>
            </a:r>
            <a:r>
              <a:rPr lang="en-US" dirty="0">
                <a:ea typeface="+mn-lt"/>
                <a:cs typeface="+mn-lt"/>
              </a:rPr>
              <a:t>, total fees , total rec  int, total rec late fee, recoveries, collection recovery fee .Customer ID, Customer name, account number, transaction date, transaction type, amount, balance, description, branch, transaction method, currency, bank name.</a:t>
            </a:r>
            <a:endParaRPr lang="en-US">
              <a:solidFill>
                <a:srgbClr val="000000"/>
              </a:solidFill>
              <a:ea typeface="Calibri"/>
              <a:cs typeface="Calibri"/>
            </a:endParaRPr>
          </a:p>
          <a:p>
            <a:r>
              <a:rPr lang="en-US" dirty="0">
                <a:solidFill>
                  <a:srgbClr val="00B0F0"/>
                </a:solidFill>
                <a:ea typeface="Calibri"/>
                <a:cs typeface="Calibri"/>
              </a:rPr>
              <a:t>Aggregation :</a:t>
            </a:r>
            <a:r>
              <a:rPr lang="en-US" dirty="0">
                <a:ea typeface="Calibri"/>
                <a:cs typeface="Calibri"/>
              </a:rPr>
              <a:t> Total loan </a:t>
            </a:r>
            <a:r>
              <a:rPr lang="en-US" b="1" dirty="0">
                <a:ea typeface="Calibri"/>
                <a:cs typeface="Calibri"/>
              </a:rPr>
              <a:t>₹566.88M</a:t>
            </a:r>
            <a:endParaRPr lang="en-US" dirty="0">
              <a:ea typeface="Calibri"/>
              <a:cs typeface="Calibri"/>
            </a:endParaRPr>
          </a:p>
        </p:txBody>
      </p:sp>
    </p:spTree>
    <p:extLst>
      <p:ext uri="{BB962C8B-B14F-4D97-AF65-F5344CB8AC3E}">
        <p14:creationId xmlns:p14="http://schemas.microsoft.com/office/powerpoint/2010/main" val="2213561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74AB41-139C-F6BA-E133-3D69422D34ED}"/>
              </a:ext>
            </a:extLst>
          </p:cNvPr>
          <p:cNvSpPr txBox="1"/>
          <p:nvPr/>
        </p:nvSpPr>
        <p:spPr>
          <a:xfrm>
            <a:off x="793315" y="203548"/>
            <a:ext cx="60960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i="0" u="none" strike="noStrike" baseline="0" dirty="0">
                <a:solidFill>
                  <a:schemeClr val="accent1"/>
                </a:solidFill>
                <a:latin typeface="Calibri Light"/>
                <a:ea typeface="Calibri Light"/>
                <a:cs typeface="Calibri Light"/>
              </a:rPr>
              <a:t>OBJECTIVE / KPI'S</a:t>
            </a:r>
            <a:endParaRPr lang="en-US" dirty="0">
              <a:solidFill>
                <a:schemeClr val="accent1"/>
              </a:solidFill>
            </a:endParaRPr>
          </a:p>
          <a:p>
            <a:pPr algn="ctr"/>
            <a:endParaRPr lang="en-US"/>
          </a:p>
        </p:txBody>
      </p:sp>
      <p:sp>
        <p:nvSpPr>
          <p:cNvPr id="11" name="TextBox 10">
            <a:extLst>
              <a:ext uri="{FF2B5EF4-FFF2-40B4-BE49-F238E27FC236}">
                <a16:creationId xmlns:a16="http://schemas.microsoft.com/office/drawing/2014/main" id="{7F7CE292-9BD1-469C-0521-E9AE6930F4D4}"/>
              </a:ext>
            </a:extLst>
          </p:cNvPr>
          <p:cNvSpPr txBox="1"/>
          <p:nvPr/>
        </p:nvSpPr>
        <p:spPr>
          <a:xfrm>
            <a:off x="795202" y="1367699"/>
            <a:ext cx="3830641"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1.Total Loan Amount Funded</a:t>
            </a:r>
          </a:p>
          <a:p>
            <a:r>
              <a:rPr lang="en-US" dirty="0">
                <a:ea typeface="Calibri"/>
                <a:cs typeface="Calibri"/>
              </a:rPr>
              <a:t>2.Total Loan</a:t>
            </a:r>
          </a:p>
          <a:p>
            <a:r>
              <a:rPr lang="en-US" dirty="0">
                <a:ea typeface="Calibri"/>
                <a:cs typeface="Calibri"/>
              </a:rPr>
              <a:t>3.</a:t>
            </a:r>
            <a:r>
              <a:rPr lang="en-US" dirty="0">
                <a:ea typeface="+mn-lt"/>
                <a:cs typeface="+mn-lt"/>
              </a:rPr>
              <a:t>Total Collection</a:t>
            </a:r>
          </a:p>
          <a:p>
            <a:r>
              <a:rPr lang="en-US" dirty="0">
                <a:ea typeface="Calibri"/>
                <a:cs typeface="Calibri"/>
              </a:rPr>
              <a:t>4.</a:t>
            </a:r>
            <a:r>
              <a:rPr lang="en-US" dirty="0">
                <a:ea typeface="+mn-lt"/>
                <a:cs typeface="+mn-lt"/>
              </a:rPr>
              <a:t>Total Interest</a:t>
            </a:r>
          </a:p>
          <a:p>
            <a:r>
              <a:rPr lang="en-US" dirty="0">
                <a:ea typeface="+mn-lt"/>
                <a:cs typeface="+mn-lt"/>
              </a:rPr>
              <a:t>5.Branch-Wise Performance</a:t>
            </a:r>
          </a:p>
          <a:p>
            <a:r>
              <a:rPr lang="en-US" dirty="0">
                <a:ea typeface="+mn-lt"/>
                <a:cs typeface="+mn-lt"/>
              </a:rPr>
              <a:t>6.State-Wise Loan</a:t>
            </a:r>
          </a:p>
          <a:p>
            <a:r>
              <a:rPr lang="en-US" dirty="0">
                <a:ea typeface="+mn-lt"/>
                <a:cs typeface="+mn-lt"/>
              </a:rPr>
              <a:t>7.Religion-Wise Loan</a:t>
            </a:r>
          </a:p>
          <a:p>
            <a:r>
              <a:rPr lang="en-US" dirty="0">
                <a:ea typeface="+mn-lt"/>
                <a:cs typeface="+mn-lt"/>
              </a:rPr>
              <a:t>8.Product Group-Wise Loan</a:t>
            </a:r>
          </a:p>
          <a:p>
            <a:r>
              <a:rPr lang="en-US" dirty="0">
                <a:ea typeface="+mn-lt"/>
                <a:cs typeface="+mn-lt"/>
              </a:rPr>
              <a:t>9.Disbursement Trend</a:t>
            </a:r>
          </a:p>
          <a:p>
            <a:r>
              <a:rPr lang="en-US" dirty="0">
                <a:ea typeface="+mn-lt"/>
                <a:cs typeface="+mn-lt"/>
              </a:rPr>
              <a:t>10.Grade-Wise Loan</a:t>
            </a:r>
          </a:p>
          <a:p>
            <a:r>
              <a:rPr lang="en-US" dirty="0">
                <a:ea typeface="+mn-lt"/>
                <a:cs typeface="+mn-lt"/>
              </a:rPr>
              <a:t>11.Default Loan Count</a:t>
            </a:r>
          </a:p>
          <a:p>
            <a:r>
              <a:rPr lang="en-US" dirty="0">
                <a:ea typeface="+mn-lt"/>
                <a:cs typeface="+mn-lt"/>
              </a:rPr>
              <a:t>12.Delinquent Client Count</a:t>
            </a:r>
          </a:p>
          <a:p>
            <a:r>
              <a:rPr lang="en-US" dirty="0">
                <a:ea typeface="+mn-lt"/>
                <a:cs typeface="+mn-lt"/>
              </a:rPr>
              <a:t>13.Delinquent Loan Rate</a:t>
            </a:r>
          </a:p>
          <a:p>
            <a:r>
              <a:rPr lang="en-US" dirty="0">
                <a:ea typeface="+mn-lt"/>
                <a:cs typeface="+mn-lt"/>
              </a:rPr>
              <a:t>14.Default Loan Rate</a:t>
            </a:r>
          </a:p>
          <a:p>
            <a:r>
              <a:rPr lang="en-US" dirty="0">
                <a:ea typeface="+mn-lt"/>
                <a:cs typeface="+mn-lt"/>
              </a:rPr>
              <a:t>15.Loan Status-Wise Loan</a:t>
            </a:r>
          </a:p>
          <a:p>
            <a:r>
              <a:rPr lang="en-US" dirty="0">
                <a:ea typeface="+mn-lt"/>
                <a:cs typeface="+mn-lt"/>
              </a:rPr>
              <a:t>16.Age Group-Wise Loan</a:t>
            </a:r>
          </a:p>
          <a:p>
            <a:r>
              <a:rPr lang="en-US" dirty="0">
                <a:ea typeface="+mn-lt"/>
                <a:cs typeface="+mn-lt"/>
              </a:rPr>
              <a:t>17.Loan Maturity</a:t>
            </a:r>
          </a:p>
          <a:p>
            <a:r>
              <a:rPr lang="en-US" dirty="0">
                <a:ea typeface="+mn-lt"/>
                <a:cs typeface="+mn-lt"/>
              </a:rPr>
              <a:t>18.No Verified Loans</a:t>
            </a:r>
          </a:p>
        </p:txBody>
      </p:sp>
      <p:sp>
        <p:nvSpPr>
          <p:cNvPr id="12" name="TextBox 11">
            <a:extLst>
              <a:ext uri="{FF2B5EF4-FFF2-40B4-BE49-F238E27FC236}">
                <a16:creationId xmlns:a16="http://schemas.microsoft.com/office/drawing/2014/main" id="{7F0BEF50-CAA1-D46C-6B3C-AF611DCB3C5A}"/>
              </a:ext>
            </a:extLst>
          </p:cNvPr>
          <p:cNvSpPr txBox="1"/>
          <p:nvPr/>
        </p:nvSpPr>
        <p:spPr>
          <a:xfrm>
            <a:off x="6007736" y="1371061"/>
            <a:ext cx="4461719"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1.Total Credit  </a:t>
            </a:r>
            <a:endParaRPr lang="en-US" dirty="0">
              <a:solidFill>
                <a:srgbClr val="000000"/>
              </a:solidFill>
              <a:ea typeface="Calibri"/>
              <a:cs typeface="Calibri"/>
            </a:endParaRPr>
          </a:p>
          <a:p>
            <a:r>
              <a:rPr lang="en-US" dirty="0">
                <a:ea typeface="Calibri"/>
                <a:cs typeface="Calibri"/>
              </a:rPr>
              <a:t>2.Debit Amount</a:t>
            </a:r>
          </a:p>
          <a:p>
            <a:r>
              <a:rPr lang="en-US" dirty="0">
                <a:ea typeface="Calibri"/>
                <a:cs typeface="Calibri"/>
              </a:rPr>
              <a:t>3.Credit to Debit Ratio</a:t>
            </a:r>
          </a:p>
          <a:p>
            <a:r>
              <a:rPr lang="en-US" dirty="0">
                <a:ea typeface="Calibri"/>
                <a:cs typeface="Calibri"/>
              </a:rPr>
              <a:t>4.Net Transaction Amount</a:t>
            </a:r>
          </a:p>
          <a:p>
            <a:r>
              <a:rPr lang="en-US" dirty="0">
                <a:ea typeface="Calibri"/>
                <a:cs typeface="Calibri"/>
              </a:rPr>
              <a:t>5.Account Activity Ratio</a:t>
            </a:r>
          </a:p>
          <a:p>
            <a:r>
              <a:rPr lang="en-US" dirty="0">
                <a:ea typeface="Calibri"/>
                <a:cs typeface="Calibri"/>
              </a:rPr>
              <a:t>6.ransactions per Day/Week/Month</a:t>
            </a:r>
          </a:p>
          <a:p>
            <a:r>
              <a:rPr lang="en-US" dirty="0">
                <a:ea typeface="Calibri"/>
                <a:cs typeface="Calibri"/>
              </a:rPr>
              <a:t>7.Total Transaction Amount by Branch</a:t>
            </a:r>
          </a:p>
          <a:p>
            <a:r>
              <a:rPr lang="en-US" dirty="0">
                <a:ea typeface="Calibri"/>
                <a:cs typeface="Calibri"/>
              </a:rPr>
              <a:t>8.Transaction Volume by Bank</a:t>
            </a:r>
          </a:p>
          <a:p>
            <a:r>
              <a:rPr lang="en-US" dirty="0">
                <a:ea typeface="Calibri"/>
                <a:cs typeface="Calibri"/>
              </a:rPr>
              <a:t>9.Transaction Method Distribution</a:t>
            </a:r>
          </a:p>
          <a:p>
            <a:r>
              <a:rPr lang="en-US" dirty="0">
                <a:ea typeface="Calibri"/>
                <a:cs typeface="Calibri"/>
              </a:rPr>
              <a:t>10.Branch Transaction Growth</a:t>
            </a:r>
          </a:p>
          <a:p>
            <a:r>
              <a:rPr lang="en-US" dirty="0">
                <a:ea typeface="Calibri"/>
                <a:cs typeface="Calibri"/>
              </a:rPr>
              <a:t>11.High-Risk Transaction Flag</a:t>
            </a:r>
          </a:p>
          <a:p>
            <a:r>
              <a:rPr lang="en-US" dirty="0">
                <a:ea typeface="Calibri"/>
                <a:cs typeface="Calibri"/>
              </a:rPr>
              <a:t>12.Suspicious Transaction Frequency</a:t>
            </a:r>
          </a:p>
        </p:txBody>
      </p:sp>
      <p:sp>
        <p:nvSpPr>
          <p:cNvPr id="13" name="TextBox 12">
            <a:extLst>
              <a:ext uri="{FF2B5EF4-FFF2-40B4-BE49-F238E27FC236}">
                <a16:creationId xmlns:a16="http://schemas.microsoft.com/office/drawing/2014/main" id="{12E223E8-1C6B-95B7-1A75-2E23C11A3E91}"/>
              </a:ext>
            </a:extLst>
          </p:cNvPr>
          <p:cNvSpPr txBox="1"/>
          <p:nvPr/>
        </p:nvSpPr>
        <p:spPr>
          <a:xfrm>
            <a:off x="828443" y="853173"/>
            <a:ext cx="314066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accent1"/>
                </a:solidFill>
                <a:ea typeface="Calibri"/>
                <a:cs typeface="Calibri"/>
              </a:rPr>
              <a:t>BANK DATA ANALYTICS</a:t>
            </a:r>
            <a:endParaRPr lang="en-US" dirty="0">
              <a:solidFill>
                <a:schemeClr val="accent1"/>
              </a:solidFill>
            </a:endParaRPr>
          </a:p>
        </p:txBody>
      </p:sp>
      <p:sp>
        <p:nvSpPr>
          <p:cNvPr id="14" name="TextBox 13">
            <a:extLst>
              <a:ext uri="{FF2B5EF4-FFF2-40B4-BE49-F238E27FC236}">
                <a16:creationId xmlns:a16="http://schemas.microsoft.com/office/drawing/2014/main" id="{262E327D-92BD-D7A5-CC74-138A9F66B499}"/>
              </a:ext>
            </a:extLst>
          </p:cNvPr>
          <p:cNvSpPr txBox="1"/>
          <p:nvPr/>
        </p:nvSpPr>
        <p:spPr>
          <a:xfrm>
            <a:off x="5772411" y="850726"/>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AD84C6"/>
                </a:solidFill>
                <a:ea typeface="Calibri"/>
                <a:cs typeface="Calibri"/>
              </a:rPr>
              <a:t>DEBIT AND CREDIT BANKING DATA </a:t>
            </a:r>
          </a:p>
          <a:p>
            <a:pPr algn="ctr"/>
            <a:endParaRPr lang="en-US"/>
          </a:p>
        </p:txBody>
      </p:sp>
    </p:spTree>
    <p:extLst>
      <p:ext uri="{BB962C8B-B14F-4D97-AF65-F5344CB8AC3E}">
        <p14:creationId xmlns:p14="http://schemas.microsoft.com/office/powerpoint/2010/main" val="2164546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BFEBA-747D-0DA6-C7B2-A25E713DFB2D}"/>
              </a:ext>
            </a:extLst>
          </p:cNvPr>
          <p:cNvSpPr>
            <a:spLocks noGrp="1"/>
          </p:cNvSpPr>
          <p:nvPr>
            <p:ph type="title"/>
          </p:nvPr>
        </p:nvSpPr>
        <p:spPr>
          <a:xfrm>
            <a:off x="1097280" y="286603"/>
            <a:ext cx="10058400" cy="1168922"/>
          </a:xfrm>
        </p:spPr>
        <p:txBody>
          <a:bodyPr>
            <a:normAutofit/>
          </a:bodyPr>
          <a:lstStyle/>
          <a:p>
            <a:r>
              <a:rPr lang="en-US" sz="3200" b="1" dirty="0">
                <a:solidFill>
                  <a:schemeClr val="accent1"/>
                </a:solidFill>
                <a:ea typeface="Calibri Light"/>
                <a:cs typeface="Calibri Light"/>
              </a:rPr>
              <a:t>PROCESS</a:t>
            </a:r>
          </a:p>
        </p:txBody>
      </p:sp>
      <p:sp>
        <p:nvSpPr>
          <p:cNvPr id="3" name="Content Placeholder 2">
            <a:extLst>
              <a:ext uri="{FF2B5EF4-FFF2-40B4-BE49-F238E27FC236}">
                <a16:creationId xmlns:a16="http://schemas.microsoft.com/office/drawing/2014/main" id="{A5A21B9D-5F04-4C8C-2E3B-B4A474C3736F}"/>
              </a:ext>
            </a:extLst>
          </p:cNvPr>
          <p:cNvSpPr>
            <a:spLocks noGrp="1"/>
          </p:cNvSpPr>
          <p:nvPr>
            <p:ph idx="1"/>
          </p:nvPr>
        </p:nvSpPr>
        <p:spPr>
          <a:xfrm>
            <a:off x="1097280" y="1845734"/>
            <a:ext cx="10726454" cy="4023360"/>
          </a:xfrm>
        </p:spPr>
        <p:txBody>
          <a:bodyPr vert="horz" lIns="0" tIns="45720" rIns="0" bIns="45720" rtlCol="0" anchor="t">
            <a:normAutofit/>
          </a:bodyPr>
          <a:lstStyle/>
          <a:p>
            <a:r>
              <a:rPr lang="en-US" dirty="0">
                <a:ea typeface="+mn-lt"/>
                <a:cs typeface="+mn-lt"/>
              </a:rPr>
              <a:t>1. Data Collection</a:t>
            </a:r>
            <a:endParaRPr lang="en-US" dirty="0">
              <a:ea typeface="Calibri" panose="020F0502020204030204"/>
              <a:cs typeface="Calibri" panose="020F0502020204030204"/>
            </a:endParaRPr>
          </a:p>
          <a:p>
            <a:r>
              <a:rPr lang="en-US" dirty="0">
                <a:ea typeface="+mn-lt"/>
                <a:cs typeface="+mn-lt"/>
              </a:rPr>
              <a:t>2. Data Cleaning: Handled nulls, removed duplicates, format date </a:t>
            </a:r>
            <a:r>
              <a:rPr lang="en-US" dirty="0" err="1">
                <a:ea typeface="+mn-lt"/>
                <a:cs typeface="+mn-lt"/>
              </a:rPr>
              <a:t>values,removed</a:t>
            </a:r>
            <a:r>
              <a:rPr lang="en-US" dirty="0">
                <a:ea typeface="+mn-lt"/>
                <a:cs typeface="+mn-lt"/>
              </a:rPr>
              <a:t> unwanted columns</a:t>
            </a:r>
            <a:endParaRPr lang="en-US" dirty="0"/>
          </a:p>
          <a:p>
            <a:r>
              <a:rPr lang="en-US" dirty="0">
                <a:ea typeface="+mn-lt"/>
                <a:cs typeface="+mn-lt"/>
              </a:rPr>
              <a:t>3. Data Transformation: Created new metrics</a:t>
            </a:r>
            <a:endParaRPr lang="en-US" dirty="0"/>
          </a:p>
          <a:p>
            <a:r>
              <a:rPr lang="en-US" dirty="0">
                <a:ea typeface="+mn-lt"/>
                <a:cs typeface="+mn-lt"/>
              </a:rPr>
              <a:t>4. Visualization: Tableau</a:t>
            </a:r>
            <a:endParaRPr lang="en-US" dirty="0"/>
          </a:p>
          <a:p>
            <a:r>
              <a:rPr lang="en-US" dirty="0">
                <a:ea typeface="+mn-lt"/>
                <a:cs typeface="+mn-lt"/>
              </a:rPr>
              <a:t>5. Insight Extraction</a:t>
            </a:r>
            <a:endParaRPr lang="en-US" dirty="0"/>
          </a:p>
          <a:p>
            <a:endParaRPr lang="en-US" dirty="0">
              <a:ea typeface="Calibri"/>
              <a:cs typeface="Calibri"/>
            </a:endParaRPr>
          </a:p>
        </p:txBody>
      </p:sp>
    </p:spTree>
    <p:extLst>
      <p:ext uri="{BB962C8B-B14F-4D97-AF65-F5344CB8AC3E}">
        <p14:creationId xmlns:p14="http://schemas.microsoft.com/office/powerpoint/2010/main" val="3666359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9E08E6-F167-8833-667E-2E1B5DAD3B35}"/>
              </a:ext>
            </a:extLst>
          </p:cNvPr>
          <p:cNvSpPr txBox="1"/>
          <p:nvPr/>
        </p:nvSpPr>
        <p:spPr>
          <a:xfrm>
            <a:off x="469726" y="88726"/>
            <a:ext cx="60960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i="0" u="none" strike="noStrike" baseline="0" dirty="0">
                <a:solidFill>
                  <a:srgbClr val="AD84C6"/>
                </a:solidFill>
                <a:latin typeface="Calibri"/>
                <a:ea typeface="Calibri"/>
                <a:cs typeface="Calibri"/>
              </a:rPr>
              <a:t>ANALYSIS – </a:t>
            </a:r>
            <a:r>
              <a:rPr lang="en-US" sz="2000" b="1" dirty="0">
                <a:solidFill>
                  <a:schemeClr val="accent1"/>
                </a:solidFill>
                <a:latin typeface="Calibri"/>
                <a:ea typeface="Calibri"/>
                <a:cs typeface="Calibri"/>
              </a:rPr>
              <a:t>BANK DATA ANALYTICS</a:t>
            </a:r>
            <a:endParaRPr lang="en-US" sz="2000" b="1" dirty="0">
              <a:solidFill>
                <a:schemeClr val="accent1"/>
              </a:solidFill>
              <a:ea typeface="Calibri"/>
              <a:cs typeface="Calibri"/>
            </a:endParaRPr>
          </a:p>
          <a:p>
            <a:pPr algn="ctr"/>
            <a:endParaRPr lang="en-US"/>
          </a:p>
        </p:txBody>
      </p:sp>
      <p:sp>
        <p:nvSpPr>
          <p:cNvPr id="3" name="TextBox 2">
            <a:extLst>
              <a:ext uri="{FF2B5EF4-FFF2-40B4-BE49-F238E27FC236}">
                <a16:creationId xmlns:a16="http://schemas.microsoft.com/office/drawing/2014/main" id="{5F0A96C8-E050-512D-E2D9-5C02797539DD}"/>
              </a:ext>
            </a:extLst>
          </p:cNvPr>
          <p:cNvSpPr txBox="1"/>
          <p:nvPr/>
        </p:nvSpPr>
        <p:spPr>
          <a:xfrm>
            <a:off x="375781" y="1717109"/>
            <a:ext cx="11555258" cy="55399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Loan Amount – ₹566.88M</a:t>
            </a:r>
            <a:endParaRPr lang="en-US" sz="2000" b="1" dirty="0">
              <a:ea typeface="Calibri"/>
              <a:cs typeface="Calibri"/>
            </a:endParaRPr>
          </a:p>
          <a:p>
            <a:r>
              <a:rPr lang="en-US" sz="2000" dirty="0"/>
              <a:t>The total loan disbursed by the bank amounts to ₹566.88 million, showing a strong lending capacity and high customer engagement. This indicates good financial outreach and trust among borrowers.</a:t>
            </a:r>
            <a:endParaRPr lang="en-US" sz="2000" dirty="0">
              <a:ea typeface="Calibri"/>
              <a:cs typeface="Calibri"/>
            </a:endParaRPr>
          </a:p>
          <a:p>
            <a:endParaRPr lang="en-US" sz="2000" dirty="0">
              <a:ea typeface="Calibri"/>
              <a:cs typeface="Calibri"/>
            </a:endParaRPr>
          </a:p>
          <a:p>
            <a:r>
              <a:rPr lang="en-US" sz="2000" b="1" dirty="0"/>
              <a:t>Total Loans – 49.61K</a:t>
            </a:r>
            <a:endParaRPr lang="en-US" sz="2000" dirty="0">
              <a:ea typeface="Calibri"/>
              <a:cs typeface="Calibri"/>
            </a:endParaRPr>
          </a:p>
          <a:p>
            <a:r>
              <a:rPr lang="en-US" sz="2000" dirty="0">
                <a:ea typeface="+mn-lt"/>
                <a:cs typeface="+mn-lt"/>
              </a:rPr>
              <a:t>A total of </a:t>
            </a:r>
            <a:r>
              <a:rPr lang="en-US" sz="2000" b="1" dirty="0">
                <a:ea typeface="+mn-lt"/>
                <a:cs typeface="+mn-lt"/>
              </a:rPr>
              <a:t>49,610 loans</a:t>
            </a:r>
            <a:r>
              <a:rPr lang="en-US" sz="2000" dirty="0">
                <a:ea typeface="+mn-lt"/>
                <a:cs typeface="+mn-lt"/>
              </a:rPr>
              <a:t> have been processed, reflecting a large and diverse customer base. This suggests widespread credit access and an active loan portfolio.</a:t>
            </a:r>
            <a:endParaRPr lang="en-US" sz="2000" dirty="0">
              <a:ea typeface="Calibri"/>
              <a:cs typeface="Calibri"/>
            </a:endParaRPr>
          </a:p>
          <a:p>
            <a:endParaRPr lang="en-US" sz="2000" dirty="0">
              <a:ea typeface="Calibri"/>
              <a:cs typeface="Calibri"/>
            </a:endParaRPr>
          </a:p>
          <a:p>
            <a:r>
              <a:rPr lang="en-US" sz="2000" b="1" dirty="0"/>
              <a:t>Total Collection – ₹492.94M</a:t>
            </a:r>
            <a:endParaRPr lang="en-US" sz="2000" dirty="0">
              <a:ea typeface="Calibri"/>
              <a:cs typeface="Calibri"/>
            </a:endParaRPr>
          </a:p>
          <a:p>
            <a:r>
              <a:rPr lang="en-US" sz="2000" dirty="0">
                <a:ea typeface="+mn-lt"/>
                <a:cs typeface="+mn-lt"/>
              </a:rPr>
              <a:t>The bank successfully collected ₹492.94 million, achieving </a:t>
            </a:r>
            <a:r>
              <a:rPr lang="en-US" sz="2000" b="1" dirty="0">
                <a:ea typeface="+mn-lt"/>
                <a:cs typeface="+mn-lt"/>
              </a:rPr>
              <a:t>~87% recovery</a:t>
            </a:r>
            <a:r>
              <a:rPr lang="en-US" sz="2000" dirty="0">
                <a:ea typeface="+mn-lt"/>
                <a:cs typeface="+mn-lt"/>
              </a:rPr>
              <a:t> of the total loaned amount. This demonstrates effective repayment monitoring and customer discipline.</a:t>
            </a:r>
          </a:p>
          <a:p>
            <a:endParaRPr lang="en-US" sz="2000" dirty="0">
              <a:ea typeface="Calibri"/>
              <a:cs typeface="Calibri"/>
            </a:endParaRPr>
          </a:p>
          <a:p>
            <a:r>
              <a:rPr lang="en-US" sz="2000" b="1" dirty="0"/>
              <a:t>Total Interest – ₹72.64M</a:t>
            </a:r>
            <a:endParaRPr lang="en-US" sz="2000" dirty="0">
              <a:ea typeface="Calibri"/>
              <a:cs typeface="Calibri"/>
            </a:endParaRPr>
          </a:p>
          <a:p>
            <a:r>
              <a:rPr lang="en-US" sz="2000" dirty="0">
                <a:ea typeface="+mn-lt"/>
                <a:cs typeface="+mn-lt"/>
              </a:rPr>
              <a:t>The total interest earned stands at ₹72.64 million, contributing significantly to the bank’s profitability. This reflects sustainable lending practices and interest optimization.</a:t>
            </a:r>
          </a:p>
          <a:p>
            <a:endParaRPr lang="en-US" dirty="0">
              <a:ea typeface="Calibri"/>
              <a:cs typeface="Calibri"/>
            </a:endParaRPr>
          </a:p>
          <a:p>
            <a:endParaRPr lang="en-US" dirty="0">
              <a:ea typeface="Calibri"/>
              <a:cs typeface="Calibri"/>
            </a:endParaRPr>
          </a:p>
          <a:p>
            <a:pPr algn="ctr"/>
            <a:endParaRPr lang="en-US">
              <a:ea typeface="Calibri" panose="020F0502020204030204"/>
              <a:cs typeface="Calibri" panose="020F0502020204030204"/>
            </a:endParaRPr>
          </a:p>
        </p:txBody>
      </p:sp>
      <p:pic>
        <p:nvPicPr>
          <p:cNvPr id="5" name="Picture 4" descr="A close up of a sign&#10;&#10;AI-generated content may be incorrect.">
            <a:extLst>
              <a:ext uri="{FF2B5EF4-FFF2-40B4-BE49-F238E27FC236}">
                <a16:creationId xmlns:a16="http://schemas.microsoft.com/office/drawing/2014/main" id="{52A9C287-094A-81BE-DEDE-D0BF60BD877E}"/>
              </a:ext>
            </a:extLst>
          </p:cNvPr>
          <p:cNvPicPr>
            <a:picLocks noChangeAspect="1"/>
          </p:cNvPicPr>
          <p:nvPr/>
        </p:nvPicPr>
        <p:blipFill>
          <a:blip r:embed="rId2"/>
          <a:stretch>
            <a:fillRect/>
          </a:stretch>
        </p:blipFill>
        <p:spPr>
          <a:xfrm>
            <a:off x="1810533" y="691476"/>
            <a:ext cx="6629400" cy="923925"/>
          </a:xfrm>
          <a:prstGeom prst="rect">
            <a:avLst/>
          </a:prstGeom>
        </p:spPr>
      </p:pic>
    </p:spTree>
    <p:extLst>
      <p:ext uri="{BB962C8B-B14F-4D97-AF65-F5344CB8AC3E}">
        <p14:creationId xmlns:p14="http://schemas.microsoft.com/office/powerpoint/2010/main" val="313918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B2E99-90A2-4BF0-1422-741C35FF04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AF3CBA-6CC1-79D3-443F-CF52A5DA15CC}"/>
              </a:ext>
            </a:extLst>
          </p:cNvPr>
          <p:cNvSpPr txBox="1"/>
          <p:nvPr/>
        </p:nvSpPr>
        <p:spPr>
          <a:xfrm>
            <a:off x="292273" y="1247384"/>
            <a:ext cx="11607451" cy="50629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b="1" dirty="0">
                <a:solidFill>
                  <a:srgbClr val="00B0F0"/>
                </a:solidFill>
              </a:rPr>
              <a:t>Default Loans – 736</a:t>
            </a:r>
            <a:endParaRPr lang="en-US" sz="1700">
              <a:solidFill>
                <a:srgbClr val="00B0F0"/>
              </a:solidFill>
              <a:ea typeface="Calibri"/>
              <a:cs typeface="Calibri"/>
            </a:endParaRPr>
          </a:p>
          <a:p>
            <a:r>
              <a:rPr lang="en-US" sz="1700" dirty="0"/>
              <a:t>There are 736 defaulted loans, forming 1.48% of the total loan count. This is a manageable default ratio, indicating overall portfolio health and proper risk management.</a:t>
            </a:r>
            <a:endParaRPr lang="en-US" sz="1700" dirty="0">
              <a:ea typeface="Calibri"/>
              <a:cs typeface="Calibri"/>
            </a:endParaRPr>
          </a:p>
          <a:p>
            <a:endParaRPr lang="en-US" sz="1700" dirty="0">
              <a:ea typeface="Calibri"/>
              <a:cs typeface="Calibri"/>
            </a:endParaRPr>
          </a:p>
          <a:p>
            <a:r>
              <a:rPr lang="en-US" sz="1700" b="1" dirty="0">
                <a:solidFill>
                  <a:srgbClr val="00B0F0"/>
                </a:solidFill>
              </a:rPr>
              <a:t>Delinquent Count – 5,416</a:t>
            </a:r>
            <a:endParaRPr lang="en-US" sz="1700">
              <a:solidFill>
                <a:srgbClr val="00B0F0"/>
              </a:solidFill>
              <a:ea typeface="Calibri"/>
              <a:cs typeface="Calibri"/>
            </a:endParaRPr>
          </a:p>
          <a:p>
            <a:r>
              <a:rPr lang="en-US" sz="1700" dirty="0">
                <a:ea typeface="+mn-lt"/>
                <a:cs typeface="+mn-lt"/>
              </a:rPr>
              <a:t>5,416 loans are marked as delinquent (missed payments), accounting for 10.92% of the total. This highlights the need for better follow-up strategies and reminders to reduce overdue cases.</a:t>
            </a:r>
          </a:p>
          <a:p>
            <a:endParaRPr lang="en-US" sz="1700" dirty="0">
              <a:ea typeface="Calibri"/>
              <a:cs typeface="Calibri"/>
            </a:endParaRPr>
          </a:p>
          <a:p>
            <a:r>
              <a:rPr lang="en-US" sz="1700" b="1" dirty="0">
                <a:solidFill>
                  <a:srgbClr val="00B0F0"/>
                </a:solidFill>
              </a:rPr>
              <a:t>Delinquent Rate – 10.92%</a:t>
            </a:r>
            <a:endParaRPr lang="en-US" sz="1700">
              <a:solidFill>
                <a:srgbClr val="00B0F0"/>
              </a:solidFill>
              <a:ea typeface="Calibri"/>
              <a:cs typeface="Calibri"/>
            </a:endParaRPr>
          </a:p>
          <a:p>
            <a:r>
              <a:rPr lang="en-US" sz="1700" dirty="0">
                <a:ea typeface="+mn-lt"/>
                <a:cs typeface="+mn-lt"/>
              </a:rPr>
              <a:t>A delinquency rate near 11% suggests that a notable segment of borrowers struggle with timely payments. The bank should focus on credit counseling and restructuring options to improve repayment regularity.</a:t>
            </a:r>
            <a:endParaRPr lang="en-US" sz="1700" dirty="0">
              <a:ea typeface="Calibri"/>
              <a:cs typeface="Calibri"/>
            </a:endParaRPr>
          </a:p>
          <a:p>
            <a:endParaRPr lang="en-US" sz="1700" dirty="0">
              <a:ea typeface="Calibri"/>
              <a:cs typeface="Calibri"/>
            </a:endParaRPr>
          </a:p>
          <a:p>
            <a:r>
              <a:rPr lang="en-US" sz="1700" b="1" dirty="0">
                <a:solidFill>
                  <a:srgbClr val="00B0F0"/>
                </a:solidFill>
              </a:rPr>
              <a:t>Default Loan Rate – 1.484%</a:t>
            </a:r>
            <a:endParaRPr lang="en-US" sz="1700">
              <a:solidFill>
                <a:srgbClr val="00B0F0"/>
              </a:solidFill>
              <a:ea typeface="Calibri"/>
              <a:cs typeface="Calibri"/>
            </a:endParaRPr>
          </a:p>
          <a:p>
            <a:r>
              <a:rPr lang="en-US" sz="1700" dirty="0">
                <a:ea typeface="+mn-lt"/>
                <a:cs typeface="+mn-lt"/>
              </a:rPr>
              <a:t>The default rate is relatively low, showing that most borrowers eventually repay their dues. This confirms sound credit evaluation and lending decisions by the bank.</a:t>
            </a:r>
            <a:endParaRPr lang="en-US" sz="1700" dirty="0">
              <a:ea typeface="Calibri"/>
              <a:cs typeface="Calibri"/>
            </a:endParaRPr>
          </a:p>
          <a:p>
            <a:endParaRPr lang="en-US" sz="1700" dirty="0">
              <a:ea typeface="Calibri"/>
              <a:cs typeface="Calibri"/>
            </a:endParaRPr>
          </a:p>
          <a:p>
            <a:r>
              <a:rPr lang="en-US" sz="1700" b="1" dirty="0">
                <a:solidFill>
                  <a:srgbClr val="00B0F0"/>
                </a:solidFill>
              </a:rPr>
              <a:t>Not Verified Loans – 12,310</a:t>
            </a:r>
            <a:endParaRPr lang="en-US" sz="1700">
              <a:solidFill>
                <a:srgbClr val="00B0F0"/>
              </a:solidFill>
              <a:ea typeface="Calibri"/>
              <a:cs typeface="Calibri"/>
            </a:endParaRPr>
          </a:p>
          <a:p>
            <a:r>
              <a:rPr lang="en-US" sz="1700" dirty="0">
                <a:ea typeface="+mn-lt"/>
                <a:cs typeface="+mn-lt"/>
              </a:rPr>
              <a:t>A total of 12,310 loans remain unverified, which is around 25% of the total loans. This represents a potential data or compliance gap, and verifying these records could strengthen audit readiness and accuracy.</a:t>
            </a:r>
            <a:endParaRPr lang="en-US" sz="1700" dirty="0"/>
          </a:p>
        </p:txBody>
      </p:sp>
      <p:pic>
        <p:nvPicPr>
          <p:cNvPr id="3" name="Picture 2" descr="A close-up of a sign&#10;&#10;AI-generated content may be incorrect.">
            <a:extLst>
              <a:ext uri="{FF2B5EF4-FFF2-40B4-BE49-F238E27FC236}">
                <a16:creationId xmlns:a16="http://schemas.microsoft.com/office/drawing/2014/main" id="{2722AC06-FFC9-37B2-94CB-BCBBA9752A99}"/>
              </a:ext>
            </a:extLst>
          </p:cNvPr>
          <p:cNvPicPr>
            <a:picLocks noChangeAspect="1"/>
          </p:cNvPicPr>
          <p:nvPr/>
        </p:nvPicPr>
        <p:blipFill>
          <a:blip r:embed="rId2"/>
          <a:stretch>
            <a:fillRect/>
          </a:stretch>
        </p:blipFill>
        <p:spPr>
          <a:xfrm>
            <a:off x="1362532" y="176344"/>
            <a:ext cx="8715375" cy="847725"/>
          </a:xfrm>
          <a:prstGeom prst="rect">
            <a:avLst/>
          </a:prstGeom>
        </p:spPr>
      </p:pic>
    </p:spTree>
    <p:extLst>
      <p:ext uri="{BB962C8B-B14F-4D97-AF65-F5344CB8AC3E}">
        <p14:creationId xmlns:p14="http://schemas.microsoft.com/office/powerpoint/2010/main" val="2619736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A3D9-A262-1E26-0CFB-4D82394456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91777A4-9259-FBE5-AB49-AC7429BACCB6}"/>
              </a:ext>
            </a:extLst>
          </p:cNvPr>
          <p:cNvSpPr txBox="1"/>
          <p:nvPr/>
        </p:nvSpPr>
        <p:spPr>
          <a:xfrm>
            <a:off x="375781" y="694151"/>
            <a:ext cx="572022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F0"/>
                </a:solidFill>
              </a:rPr>
              <a:t>Top 5 Branch-Wise Loan Distribution</a:t>
            </a:r>
          </a:p>
          <a:p>
            <a:endParaRPr lang="en-US" b="1" dirty="0"/>
          </a:p>
          <a:p>
            <a:pPr marL="285750" indent="-285750">
              <a:buFont typeface="Wingdings"/>
              <a:buChar char="v"/>
            </a:pPr>
            <a:r>
              <a:rPr lang="en-US" dirty="0"/>
              <a:t>Highest loan disbursements observed in Haridwar (₹10.1M) and Mathura (₹5.3M).</a:t>
            </a:r>
            <a:endParaRPr lang="en-US" dirty="0">
              <a:ea typeface="Calibri" panose="020F0502020204030204"/>
              <a:cs typeface="Calibri" panose="020F0502020204030204"/>
            </a:endParaRPr>
          </a:p>
          <a:p>
            <a:pPr marL="285750" indent="-285750">
              <a:buFont typeface="Wingdings"/>
              <a:buChar char="v"/>
            </a:pPr>
            <a:endParaRPr lang="en-US" dirty="0">
              <a:ea typeface="Calibri" panose="020F0502020204030204"/>
              <a:cs typeface="Calibri" panose="020F0502020204030204"/>
            </a:endParaRPr>
          </a:p>
          <a:p>
            <a:pPr marL="285750" indent="-285750">
              <a:buFont typeface="Wingdings"/>
              <a:buChar char="v"/>
            </a:pPr>
            <a:r>
              <a:rPr lang="en-US" dirty="0"/>
              <a:t>These branches contribute majorly to loan portfolios, showing strong customer acquisition and disbursement activity.</a:t>
            </a:r>
            <a:endParaRPr lang="en-US">
              <a:ea typeface="Calibri" panose="020F0502020204030204"/>
              <a:cs typeface="Calibri" panose="020F0502020204030204"/>
            </a:endParaRPr>
          </a:p>
          <a:p>
            <a:pPr algn="ctr"/>
            <a:endParaRPr lang="en-US"/>
          </a:p>
        </p:txBody>
      </p:sp>
      <p:sp>
        <p:nvSpPr>
          <p:cNvPr id="3" name="TextBox 2">
            <a:extLst>
              <a:ext uri="{FF2B5EF4-FFF2-40B4-BE49-F238E27FC236}">
                <a16:creationId xmlns:a16="http://schemas.microsoft.com/office/drawing/2014/main" id="{68FB28B5-4810-28D6-74E1-C8650D3266C5}"/>
              </a:ext>
            </a:extLst>
          </p:cNvPr>
          <p:cNvSpPr txBox="1"/>
          <p:nvPr/>
        </p:nvSpPr>
        <p:spPr>
          <a:xfrm>
            <a:off x="6242137" y="683712"/>
            <a:ext cx="556364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F0"/>
                </a:solidFill>
              </a:rPr>
              <a:t>Loan Status Analysis</a:t>
            </a:r>
          </a:p>
          <a:p>
            <a:endParaRPr lang="en-US" b="1" dirty="0"/>
          </a:p>
          <a:p>
            <a:pPr marL="285750" indent="-285750">
              <a:buFont typeface="Wingdings"/>
              <a:buChar char="v"/>
            </a:pPr>
            <a:r>
              <a:rPr lang="en-US" dirty="0"/>
              <a:t>Majority of loans are Active (27,674), followed by Fully Paid (11,337).</a:t>
            </a:r>
            <a:endParaRPr lang="en-US" dirty="0">
              <a:ea typeface="Calibri" panose="020F0502020204030204"/>
              <a:cs typeface="Calibri" panose="020F0502020204030204"/>
            </a:endParaRPr>
          </a:p>
          <a:p>
            <a:pPr marL="285750" indent="-285750">
              <a:buFont typeface="Wingdings"/>
              <a:buChar char="v"/>
            </a:pPr>
            <a:endParaRPr lang="en-US" dirty="0">
              <a:ea typeface="Calibri" panose="020F0502020204030204"/>
              <a:cs typeface="Calibri" panose="020F0502020204030204"/>
            </a:endParaRPr>
          </a:p>
          <a:p>
            <a:pPr marL="285750" indent="-285750">
              <a:buFont typeface="Wingdings"/>
              <a:buChar char="v"/>
            </a:pPr>
            <a:r>
              <a:rPr lang="en-US" dirty="0"/>
              <a:t>This reflects healthy portfolio performance with substantial ongoing and completed loans, ensuring stable revenue flow.</a:t>
            </a:r>
            <a:endParaRPr lang="en-US">
              <a:ea typeface="Calibri" panose="020F0502020204030204"/>
              <a:cs typeface="Calibri" panose="020F0502020204030204"/>
            </a:endParaRPr>
          </a:p>
          <a:p>
            <a:pPr algn="ctr"/>
            <a:endParaRPr lang="en-US"/>
          </a:p>
        </p:txBody>
      </p:sp>
      <p:pic>
        <p:nvPicPr>
          <p:cNvPr id="4" name="Picture 3" descr="A screenshot of a phone&#10;&#10;AI-generated content may be incorrect.">
            <a:extLst>
              <a:ext uri="{FF2B5EF4-FFF2-40B4-BE49-F238E27FC236}">
                <a16:creationId xmlns:a16="http://schemas.microsoft.com/office/drawing/2014/main" id="{E021ABB9-AAD9-BA53-7776-C222BC6E3811}"/>
              </a:ext>
            </a:extLst>
          </p:cNvPr>
          <p:cNvPicPr>
            <a:picLocks noChangeAspect="1"/>
          </p:cNvPicPr>
          <p:nvPr/>
        </p:nvPicPr>
        <p:blipFill>
          <a:blip r:embed="rId2"/>
          <a:stretch>
            <a:fillRect/>
          </a:stretch>
        </p:blipFill>
        <p:spPr>
          <a:xfrm>
            <a:off x="797948" y="3267532"/>
            <a:ext cx="4875885" cy="2629813"/>
          </a:xfrm>
          <a:prstGeom prst="rect">
            <a:avLst/>
          </a:prstGeom>
        </p:spPr>
      </p:pic>
      <p:pic>
        <p:nvPicPr>
          <p:cNvPr id="5" name="Picture 4" descr="A screenshot of a screen&#10;&#10;AI-generated content may be incorrect.">
            <a:extLst>
              <a:ext uri="{FF2B5EF4-FFF2-40B4-BE49-F238E27FC236}">
                <a16:creationId xmlns:a16="http://schemas.microsoft.com/office/drawing/2014/main" id="{9FD55BDD-09F1-B02E-EB2A-70BA0C502909}"/>
              </a:ext>
            </a:extLst>
          </p:cNvPr>
          <p:cNvPicPr>
            <a:picLocks noChangeAspect="1"/>
          </p:cNvPicPr>
          <p:nvPr/>
        </p:nvPicPr>
        <p:blipFill>
          <a:blip r:embed="rId3"/>
          <a:stretch>
            <a:fillRect/>
          </a:stretch>
        </p:blipFill>
        <p:spPr>
          <a:xfrm>
            <a:off x="6655104" y="3269359"/>
            <a:ext cx="4643763" cy="2626160"/>
          </a:xfrm>
          <a:prstGeom prst="rect">
            <a:avLst/>
          </a:prstGeom>
        </p:spPr>
      </p:pic>
    </p:spTree>
    <p:extLst>
      <p:ext uri="{BB962C8B-B14F-4D97-AF65-F5344CB8AC3E}">
        <p14:creationId xmlns:p14="http://schemas.microsoft.com/office/powerpoint/2010/main" val="1623546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B8692-6DD3-707E-2E46-52C3188284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10FE9E-88A4-B16B-4854-9502CEC7EE0D}"/>
              </a:ext>
            </a:extLst>
          </p:cNvPr>
          <p:cNvSpPr txBox="1"/>
          <p:nvPr/>
        </p:nvSpPr>
        <p:spPr>
          <a:xfrm>
            <a:off x="334027" y="558452"/>
            <a:ext cx="520874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F0"/>
                </a:solidFill>
              </a:rPr>
              <a:t>Religion-Wise Loan Distribution</a:t>
            </a:r>
          </a:p>
          <a:p>
            <a:endParaRPr lang="en-US" b="1" dirty="0"/>
          </a:p>
          <a:p>
            <a:pPr marL="285750" indent="-285750">
              <a:buFont typeface="Wingdings"/>
              <a:buChar char="v"/>
            </a:pPr>
            <a:r>
              <a:rPr lang="en-US" b="1" dirty="0"/>
              <a:t>Hindu customers</a:t>
            </a:r>
            <a:r>
              <a:rPr lang="en-US" dirty="0"/>
              <a:t> hold the majority (71.57%), followed by </a:t>
            </a:r>
            <a:r>
              <a:rPr lang="en-US" b="1" dirty="0"/>
              <a:t>Sikh (17.43%)</a:t>
            </a:r>
            <a:r>
              <a:rPr lang="en-US" dirty="0"/>
              <a:t> and </a:t>
            </a:r>
            <a:r>
              <a:rPr lang="en-US" b="1" dirty="0"/>
              <a:t>Muslim (10.34%)</a:t>
            </a:r>
            <a:r>
              <a:rPr lang="en-US" dirty="0"/>
              <a:t>.</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pPr marL="285750" indent="-285750">
              <a:buFont typeface="Wingdings"/>
              <a:buChar char="v"/>
            </a:pPr>
            <a:r>
              <a:rPr lang="en-US" dirty="0"/>
              <a:t>Loan distribution is proportionate to population demographics, suggesting inclusive financial coverage.</a:t>
            </a:r>
            <a:endParaRPr lang="en-US" dirty="0">
              <a:ea typeface="Calibri" panose="020F0502020204030204"/>
              <a:cs typeface="Calibri" panose="020F0502020204030204"/>
            </a:endParaRPr>
          </a:p>
          <a:p>
            <a:pPr algn="ctr"/>
            <a:endParaRPr lang="en-US"/>
          </a:p>
        </p:txBody>
      </p:sp>
      <p:sp>
        <p:nvSpPr>
          <p:cNvPr id="3" name="TextBox 2">
            <a:extLst>
              <a:ext uri="{FF2B5EF4-FFF2-40B4-BE49-F238E27FC236}">
                <a16:creationId xmlns:a16="http://schemas.microsoft.com/office/drawing/2014/main" id="{F6C56B0B-F2C3-EA97-BB23-6F0D45EB4A4E}"/>
              </a:ext>
            </a:extLst>
          </p:cNvPr>
          <p:cNvSpPr txBox="1"/>
          <p:nvPr/>
        </p:nvSpPr>
        <p:spPr>
          <a:xfrm>
            <a:off x="5814164" y="558452"/>
            <a:ext cx="5824603"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F0"/>
                </a:solidFill>
              </a:rPr>
              <a:t>State-Wise Loan Analysis</a:t>
            </a:r>
          </a:p>
          <a:p>
            <a:endParaRPr lang="en-US" b="1" dirty="0"/>
          </a:p>
          <a:p>
            <a:pPr marL="285750" indent="-285750">
              <a:buFont typeface="Wingdings"/>
              <a:buChar char="v"/>
            </a:pPr>
            <a:r>
              <a:rPr lang="en-US" b="1" dirty="0"/>
              <a:t>Top Performing States:</a:t>
            </a:r>
            <a:r>
              <a:rPr lang="en-US" dirty="0"/>
              <a:t> Uttar Pradesh (₹138.46M), Punjab (₹119.11M), and Bihar (₹95.18M)</a:t>
            </a:r>
          </a:p>
          <a:p>
            <a:pPr marL="285750" indent="-285750">
              <a:buFont typeface="Wingdings"/>
              <a:buChar char="v"/>
            </a:pPr>
            <a:endParaRPr lang="en-US" dirty="0"/>
          </a:p>
          <a:p>
            <a:pPr marL="285750" indent="-285750">
              <a:buFont typeface="Wingdings"/>
              <a:buChar char="v"/>
            </a:pPr>
            <a:r>
              <a:rPr lang="en-US" dirty="0"/>
              <a:t> Uttar Pradesh leads significantly, highlighting high demand and outreach in North India.</a:t>
            </a:r>
            <a:endParaRPr lang="en-US">
              <a:ea typeface="Calibri"/>
              <a:cs typeface="Calibri"/>
            </a:endParaRPr>
          </a:p>
          <a:p>
            <a:pPr algn="ctr"/>
            <a:endParaRPr lang="en-US"/>
          </a:p>
        </p:txBody>
      </p:sp>
      <p:pic>
        <p:nvPicPr>
          <p:cNvPr id="4" name="Picture 3" descr="A pie chart with numbers and a diagram&#10;&#10;AI-generated content may be incorrect.">
            <a:extLst>
              <a:ext uri="{FF2B5EF4-FFF2-40B4-BE49-F238E27FC236}">
                <a16:creationId xmlns:a16="http://schemas.microsoft.com/office/drawing/2014/main" id="{BB812E80-6509-321D-44A8-5F875B9A8621}"/>
              </a:ext>
            </a:extLst>
          </p:cNvPr>
          <p:cNvPicPr>
            <a:picLocks noChangeAspect="1"/>
          </p:cNvPicPr>
          <p:nvPr/>
        </p:nvPicPr>
        <p:blipFill>
          <a:blip r:embed="rId2"/>
          <a:stretch>
            <a:fillRect/>
          </a:stretch>
        </p:blipFill>
        <p:spPr>
          <a:xfrm>
            <a:off x="685148" y="3426847"/>
            <a:ext cx="4057650" cy="2676525"/>
          </a:xfrm>
          <a:prstGeom prst="rect">
            <a:avLst/>
          </a:prstGeom>
        </p:spPr>
      </p:pic>
      <p:pic>
        <p:nvPicPr>
          <p:cNvPr id="5" name="Picture 4">
            <a:extLst>
              <a:ext uri="{FF2B5EF4-FFF2-40B4-BE49-F238E27FC236}">
                <a16:creationId xmlns:a16="http://schemas.microsoft.com/office/drawing/2014/main" id="{8177522F-32EE-4277-703C-5812E770CDC0}"/>
              </a:ext>
            </a:extLst>
          </p:cNvPr>
          <p:cNvPicPr>
            <a:picLocks noChangeAspect="1"/>
          </p:cNvPicPr>
          <p:nvPr/>
        </p:nvPicPr>
        <p:blipFill>
          <a:blip r:embed="rId3"/>
          <a:stretch>
            <a:fillRect/>
          </a:stretch>
        </p:blipFill>
        <p:spPr>
          <a:xfrm>
            <a:off x="6096130" y="3424108"/>
            <a:ext cx="4623930" cy="2671566"/>
          </a:xfrm>
          <a:prstGeom prst="rect">
            <a:avLst/>
          </a:prstGeom>
        </p:spPr>
      </p:pic>
    </p:spTree>
    <p:extLst>
      <p:ext uri="{BB962C8B-B14F-4D97-AF65-F5344CB8AC3E}">
        <p14:creationId xmlns:p14="http://schemas.microsoft.com/office/powerpoint/2010/main" val="1427067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36296-EBD1-C82F-3E45-3C8BCAF3EF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371CCA-0FD0-C685-AA00-710C76A07B6D}"/>
              </a:ext>
            </a:extLst>
          </p:cNvPr>
          <p:cNvSpPr txBox="1"/>
          <p:nvPr/>
        </p:nvSpPr>
        <p:spPr>
          <a:xfrm>
            <a:off x="657616" y="829849"/>
            <a:ext cx="511479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F0"/>
                </a:solidFill>
              </a:rPr>
              <a:t>Disbursement Trend</a:t>
            </a:r>
          </a:p>
          <a:p>
            <a:endParaRPr lang="en-US" b="1" dirty="0"/>
          </a:p>
          <a:p>
            <a:pPr marL="285750" indent="-285750">
              <a:buFont typeface="Wingdings"/>
              <a:buChar char="v"/>
            </a:pPr>
            <a:r>
              <a:rPr lang="en-US" dirty="0"/>
              <a:t>Steady growth from FY2017 (₹21M) to FY2019 (₹341M), followed by a drop in FY2020 (₹61M).</a:t>
            </a:r>
            <a:endParaRPr lang="en-US" dirty="0">
              <a:ea typeface="Calibri"/>
              <a:cs typeface="Calibri"/>
            </a:endParaRPr>
          </a:p>
          <a:p>
            <a:pPr marL="285750" indent="-285750">
              <a:buFont typeface="Wingdings"/>
              <a:buChar char="v"/>
            </a:pPr>
            <a:endParaRPr lang="en-US" dirty="0"/>
          </a:p>
          <a:p>
            <a:pPr marL="285750" indent="-285750">
              <a:buFont typeface="Wingdings"/>
              <a:buChar char="v"/>
            </a:pPr>
            <a:r>
              <a:rPr lang="en-US" dirty="0"/>
              <a:t>The fall in 2020 may be attributed to economic slowdown or risk-based lending control.</a:t>
            </a:r>
            <a:endParaRPr lang="en-US" dirty="0">
              <a:ea typeface="Calibri" panose="020F0502020204030204"/>
              <a:cs typeface="Calibri" panose="020F0502020204030204"/>
            </a:endParaRPr>
          </a:p>
          <a:p>
            <a:pPr algn="ctr"/>
            <a:endParaRPr lang="en-US"/>
          </a:p>
        </p:txBody>
      </p:sp>
      <p:sp>
        <p:nvSpPr>
          <p:cNvPr id="3" name="TextBox 2">
            <a:extLst>
              <a:ext uri="{FF2B5EF4-FFF2-40B4-BE49-F238E27FC236}">
                <a16:creationId xmlns:a16="http://schemas.microsoft.com/office/drawing/2014/main" id="{ACA3600A-851A-37E1-1122-DDBA8C5AB136}"/>
              </a:ext>
            </a:extLst>
          </p:cNvPr>
          <p:cNvSpPr txBox="1"/>
          <p:nvPr/>
        </p:nvSpPr>
        <p:spPr>
          <a:xfrm>
            <a:off x="6096000" y="829849"/>
            <a:ext cx="544882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F0"/>
                </a:solidFill>
              </a:rPr>
              <a:t>Grade-Wise Loan Distribution</a:t>
            </a:r>
          </a:p>
          <a:p>
            <a:endParaRPr lang="en-US" b="1" dirty="0"/>
          </a:p>
          <a:p>
            <a:pPr marL="285750" indent="-285750">
              <a:buFont typeface="Wingdings"/>
              <a:buChar char="v"/>
            </a:pPr>
            <a:r>
              <a:rPr lang="en-US" dirty="0"/>
              <a:t>Majority of loans fall under </a:t>
            </a:r>
            <a:r>
              <a:rPr lang="en-US" b="1" dirty="0"/>
              <a:t>Grade A (8,807)</a:t>
            </a:r>
            <a:r>
              <a:rPr lang="en-US" dirty="0"/>
              <a:t> and </a:t>
            </a:r>
            <a:r>
              <a:rPr lang="en-US" b="1" dirty="0"/>
              <a:t>Grade B (7,367)</a:t>
            </a:r>
            <a:r>
              <a:rPr lang="en-US" dirty="0"/>
              <a:t>.</a:t>
            </a:r>
          </a:p>
          <a:p>
            <a:pPr marL="285750" indent="-285750">
              <a:buFont typeface="Wingdings"/>
              <a:buChar char="v"/>
            </a:pPr>
            <a:endParaRPr lang="en-US" dirty="0"/>
          </a:p>
          <a:p>
            <a:pPr marL="285750" indent="-285750">
              <a:buFont typeface="Wingdings"/>
              <a:buChar char="v"/>
            </a:pPr>
            <a:r>
              <a:rPr lang="en-US" dirty="0"/>
              <a:t> Indicates strong borrower creditworthiness and low-risk lending practices.</a:t>
            </a:r>
            <a:endParaRPr lang="en-US">
              <a:ea typeface="Calibri" panose="020F0502020204030204"/>
              <a:cs typeface="Calibri" panose="020F0502020204030204"/>
            </a:endParaRPr>
          </a:p>
          <a:p>
            <a:pPr algn="ctr"/>
            <a:endParaRPr lang="en-US"/>
          </a:p>
        </p:txBody>
      </p:sp>
      <p:pic>
        <p:nvPicPr>
          <p:cNvPr id="4" name="Picture 3" descr="A graph with numbers and a line&#10;&#10;AI-generated content may be incorrect.">
            <a:extLst>
              <a:ext uri="{FF2B5EF4-FFF2-40B4-BE49-F238E27FC236}">
                <a16:creationId xmlns:a16="http://schemas.microsoft.com/office/drawing/2014/main" id="{0AD082A3-3308-98E3-E172-1513EFAE1D86}"/>
              </a:ext>
            </a:extLst>
          </p:cNvPr>
          <p:cNvPicPr>
            <a:picLocks noChangeAspect="1"/>
          </p:cNvPicPr>
          <p:nvPr/>
        </p:nvPicPr>
        <p:blipFill>
          <a:blip r:embed="rId2"/>
          <a:stretch>
            <a:fillRect/>
          </a:stretch>
        </p:blipFill>
        <p:spPr>
          <a:xfrm>
            <a:off x="804797" y="3430501"/>
            <a:ext cx="3505200" cy="2752725"/>
          </a:xfrm>
          <a:prstGeom prst="rect">
            <a:avLst/>
          </a:prstGeom>
        </p:spPr>
      </p:pic>
      <p:pic>
        <p:nvPicPr>
          <p:cNvPr id="5" name="Picture 4">
            <a:extLst>
              <a:ext uri="{FF2B5EF4-FFF2-40B4-BE49-F238E27FC236}">
                <a16:creationId xmlns:a16="http://schemas.microsoft.com/office/drawing/2014/main" id="{768D0312-C5C3-D8EA-D5A2-7E788725DB34}"/>
              </a:ext>
            </a:extLst>
          </p:cNvPr>
          <p:cNvPicPr>
            <a:picLocks noChangeAspect="1"/>
          </p:cNvPicPr>
          <p:nvPr/>
        </p:nvPicPr>
        <p:blipFill>
          <a:blip r:embed="rId3"/>
          <a:stretch>
            <a:fillRect/>
          </a:stretch>
        </p:blipFill>
        <p:spPr>
          <a:xfrm>
            <a:off x="6379598" y="3384898"/>
            <a:ext cx="3629025" cy="2781300"/>
          </a:xfrm>
          <a:prstGeom prst="rect">
            <a:avLst/>
          </a:prstGeom>
        </p:spPr>
      </p:pic>
    </p:spTree>
    <p:extLst>
      <p:ext uri="{BB962C8B-B14F-4D97-AF65-F5344CB8AC3E}">
        <p14:creationId xmlns:p14="http://schemas.microsoft.com/office/powerpoint/2010/main" val="3199937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842E0-A902-C350-4FC1-45F624A216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CC48656-3169-0035-4404-FDA78110C900}"/>
              </a:ext>
            </a:extLst>
          </p:cNvPr>
          <p:cNvSpPr txBox="1"/>
          <p:nvPr/>
        </p:nvSpPr>
        <p:spPr>
          <a:xfrm>
            <a:off x="594986" y="861164"/>
            <a:ext cx="5635925"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F0"/>
                </a:solidFill>
              </a:rPr>
              <a:t>Product Group-Wise Loan</a:t>
            </a:r>
          </a:p>
          <a:p>
            <a:endParaRPr lang="en-US" b="1" dirty="0"/>
          </a:p>
          <a:p>
            <a:pPr marL="285750" indent="-285750">
              <a:buFont typeface="Wingdings"/>
              <a:buChar char="v"/>
            </a:pPr>
            <a:r>
              <a:rPr lang="en-US" b="1" dirty="0"/>
              <a:t>Home Loans (₹229M)</a:t>
            </a:r>
            <a:r>
              <a:rPr lang="en-US" dirty="0"/>
              <a:t> dominate, followed by </a:t>
            </a:r>
            <a:r>
              <a:rPr lang="en-US" b="1" dirty="0"/>
              <a:t>Services (₹104M)</a:t>
            </a:r>
            <a:r>
              <a:rPr lang="en-US" dirty="0"/>
              <a:t> and </a:t>
            </a:r>
            <a:r>
              <a:rPr lang="en-US" b="1" dirty="0"/>
              <a:t>Business Loans (₹55M)</a:t>
            </a:r>
            <a:r>
              <a:rPr lang="en-US" dirty="0"/>
              <a:t>.</a:t>
            </a:r>
          </a:p>
          <a:p>
            <a:pPr marL="285750" indent="-285750">
              <a:buFont typeface="Wingdings"/>
              <a:buChar char="v"/>
            </a:pPr>
            <a:endParaRPr lang="en-US" dirty="0"/>
          </a:p>
          <a:p>
            <a:pPr marL="285750" indent="-285750">
              <a:buFont typeface="Wingdings"/>
              <a:buChar char="v"/>
            </a:pPr>
            <a:r>
              <a:rPr lang="en-US" dirty="0"/>
              <a:t>The bank’s focus is on secured and essential financial products, ensuring portfolio stability.</a:t>
            </a:r>
            <a:endParaRPr lang="en-US">
              <a:ea typeface="Calibri"/>
              <a:cs typeface="Calibri"/>
            </a:endParaRPr>
          </a:p>
          <a:p>
            <a:pPr algn="ctr"/>
            <a:endParaRPr lang="en-US" b="1" dirty="0">
              <a:ea typeface="Calibri"/>
              <a:cs typeface="Calibri"/>
            </a:endParaRPr>
          </a:p>
          <a:p>
            <a:pPr algn="ctr"/>
            <a:endParaRPr lang="en-US" dirty="0">
              <a:ea typeface="Calibri"/>
              <a:cs typeface="Calibri"/>
            </a:endParaRPr>
          </a:p>
        </p:txBody>
      </p:sp>
      <p:sp>
        <p:nvSpPr>
          <p:cNvPr id="3" name="TextBox 2">
            <a:extLst>
              <a:ext uri="{FF2B5EF4-FFF2-40B4-BE49-F238E27FC236}">
                <a16:creationId xmlns:a16="http://schemas.microsoft.com/office/drawing/2014/main" id="{740CF5B5-B957-7880-E4E7-A75BEE1B17FC}"/>
              </a:ext>
            </a:extLst>
          </p:cNvPr>
          <p:cNvSpPr txBox="1"/>
          <p:nvPr/>
        </p:nvSpPr>
        <p:spPr>
          <a:xfrm>
            <a:off x="6096000" y="855453"/>
            <a:ext cx="5276490" cy="20539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lnSpc>
                <a:spcPts val="1575"/>
              </a:lnSpc>
            </a:pPr>
            <a:r>
              <a:rPr lang="en-US" sz="1800" b="1" baseline="0" dirty="0">
                <a:solidFill>
                  <a:srgbClr val="00B0F0"/>
                </a:solidFill>
                <a:latin typeface="Calibri"/>
                <a:ea typeface="Segoe UI"/>
                <a:cs typeface="Segoe UI"/>
              </a:rPr>
              <a:t>Age-Group-Wise Loan</a:t>
            </a:r>
            <a:r>
              <a:rPr lang="en-US" sz="1800" dirty="0">
                <a:solidFill>
                  <a:srgbClr val="00B0F0"/>
                </a:solidFill>
                <a:latin typeface="Calibri"/>
                <a:ea typeface="Segoe UI"/>
                <a:cs typeface="Segoe UI"/>
              </a:rPr>
              <a:t>​</a:t>
            </a:r>
            <a:endParaRPr lang="en-US" dirty="0">
              <a:solidFill>
                <a:srgbClr val="00B0F0"/>
              </a:solidFill>
              <a:cs typeface="Segoe UI"/>
            </a:endParaRPr>
          </a:p>
          <a:p>
            <a:pPr>
              <a:lnSpc>
                <a:spcPts val="1575"/>
              </a:lnSpc>
            </a:pPr>
            <a:endParaRPr lang="en-US" dirty="0">
              <a:solidFill>
                <a:srgbClr val="FFFFFF"/>
              </a:solidFill>
              <a:latin typeface="Calibri"/>
              <a:ea typeface="Arial"/>
              <a:cs typeface="Segoe UI"/>
            </a:endParaRPr>
          </a:p>
          <a:p>
            <a:pPr marL="285750" indent="-285750">
              <a:lnSpc>
                <a:spcPts val="1575"/>
              </a:lnSpc>
              <a:buFont typeface="Wingdings"/>
              <a:buChar char="v"/>
            </a:pPr>
            <a:r>
              <a:rPr lang="en-US" sz="1800" b="1" baseline="0" dirty="0">
                <a:solidFill>
                  <a:srgbClr val="FFFFFF"/>
                </a:solidFill>
                <a:latin typeface="Calibri"/>
                <a:ea typeface="Arial"/>
                <a:cs typeface="Arial"/>
              </a:rPr>
              <a:t>26–35 years (17,477)</a:t>
            </a:r>
            <a:r>
              <a:rPr lang="en-US" sz="1800" baseline="0" dirty="0">
                <a:solidFill>
                  <a:srgbClr val="FFFFFF"/>
                </a:solidFill>
                <a:latin typeface="Calibri"/>
                <a:ea typeface="Arial"/>
                <a:cs typeface="Arial"/>
              </a:rPr>
              <a:t> and </a:t>
            </a:r>
            <a:r>
              <a:rPr lang="en-US" sz="1800" b="1" baseline="0" dirty="0">
                <a:solidFill>
                  <a:srgbClr val="FFFFFF"/>
                </a:solidFill>
                <a:latin typeface="Calibri"/>
                <a:ea typeface="Arial"/>
                <a:cs typeface="Arial"/>
              </a:rPr>
              <a:t>36–45 years (15,776)</a:t>
            </a:r>
            <a:r>
              <a:rPr lang="en-US" sz="1800" baseline="0" dirty="0">
                <a:solidFill>
                  <a:srgbClr val="FFFFFF"/>
                </a:solidFill>
                <a:latin typeface="Calibri"/>
                <a:ea typeface="Arial"/>
                <a:cs typeface="Arial"/>
              </a:rPr>
              <a:t> are the most active borrowers.</a:t>
            </a:r>
            <a:r>
              <a:rPr lang="en-US" sz="1800" dirty="0">
                <a:solidFill>
                  <a:srgbClr val="FFFFFF"/>
                </a:solidFill>
                <a:latin typeface="Calibri"/>
                <a:ea typeface="Arial"/>
                <a:cs typeface="Arial"/>
              </a:rPr>
              <a:t>​</a:t>
            </a:r>
            <a:endParaRPr lang="en-US" dirty="0">
              <a:solidFill>
                <a:srgbClr val="FFFFFF"/>
              </a:solidFill>
              <a:latin typeface="Calibri"/>
              <a:ea typeface="Arial"/>
              <a:cs typeface="Arial"/>
            </a:endParaRPr>
          </a:p>
          <a:p>
            <a:pPr marL="285750" indent="-285750">
              <a:lnSpc>
                <a:spcPts val="1575"/>
              </a:lnSpc>
              <a:buFont typeface="Wingdings"/>
              <a:buChar char="v"/>
            </a:pPr>
            <a:endParaRPr lang="en-US" dirty="0">
              <a:solidFill>
                <a:srgbClr val="FFFFFF"/>
              </a:solidFill>
              <a:latin typeface="Calibri"/>
              <a:ea typeface="Arial"/>
              <a:cs typeface="Arial"/>
            </a:endParaRPr>
          </a:p>
          <a:p>
            <a:pPr marL="285750" lvl="0" indent="-285750">
              <a:lnSpc>
                <a:spcPts val="1575"/>
              </a:lnSpc>
              <a:buFont typeface="Wingdings"/>
              <a:buChar char="v"/>
            </a:pPr>
            <a:r>
              <a:rPr lang="en-US" sz="1800" baseline="0" dirty="0">
                <a:solidFill>
                  <a:srgbClr val="FFFFFF"/>
                </a:solidFill>
                <a:latin typeface="Calibri"/>
                <a:ea typeface="Arial"/>
                <a:cs typeface="Arial"/>
              </a:rPr>
              <a:t>Young professionals form the core customer segment, implying long-term engagement potential.</a:t>
            </a:r>
            <a:endParaRPr lang="en-US">
              <a:ea typeface="Calibri"/>
              <a:cs typeface="Calibri"/>
            </a:endParaRPr>
          </a:p>
          <a:p>
            <a:pPr algn="ctr"/>
            <a:endParaRPr lang="en-US"/>
          </a:p>
        </p:txBody>
      </p:sp>
      <p:pic>
        <p:nvPicPr>
          <p:cNvPr id="4" name="Picture 3">
            <a:extLst>
              <a:ext uri="{FF2B5EF4-FFF2-40B4-BE49-F238E27FC236}">
                <a16:creationId xmlns:a16="http://schemas.microsoft.com/office/drawing/2014/main" id="{431E13F4-2100-88B9-0A06-FA525E16B289}"/>
              </a:ext>
            </a:extLst>
          </p:cNvPr>
          <p:cNvPicPr>
            <a:picLocks noChangeAspect="1"/>
          </p:cNvPicPr>
          <p:nvPr/>
        </p:nvPicPr>
        <p:blipFill>
          <a:blip r:embed="rId2"/>
          <a:stretch>
            <a:fillRect/>
          </a:stretch>
        </p:blipFill>
        <p:spPr>
          <a:xfrm>
            <a:off x="900113" y="3284328"/>
            <a:ext cx="4295775" cy="2762250"/>
          </a:xfrm>
          <a:prstGeom prst="rect">
            <a:avLst/>
          </a:prstGeom>
        </p:spPr>
      </p:pic>
      <p:pic>
        <p:nvPicPr>
          <p:cNvPr id="5" name="Picture 4" descr="A graph of a group&#10;&#10;AI-generated content may be incorrect.">
            <a:extLst>
              <a:ext uri="{FF2B5EF4-FFF2-40B4-BE49-F238E27FC236}">
                <a16:creationId xmlns:a16="http://schemas.microsoft.com/office/drawing/2014/main" id="{3E46A55B-C01E-F7DB-0922-3D46C4A41BE3}"/>
              </a:ext>
            </a:extLst>
          </p:cNvPr>
          <p:cNvPicPr>
            <a:picLocks noChangeAspect="1"/>
          </p:cNvPicPr>
          <p:nvPr/>
        </p:nvPicPr>
        <p:blipFill>
          <a:blip r:embed="rId3"/>
          <a:stretch>
            <a:fillRect/>
          </a:stretch>
        </p:blipFill>
        <p:spPr>
          <a:xfrm>
            <a:off x="6405113" y="3284328"/>
            <a:ext cx="4385094" cy="2762250"/>
          </a:xfrm>
          <a:prstGeom prst="rect">
            <a:avLst/>
          </a:prstGeom>
        </p:spPr>
      </p:pic>
    </p:spTree>
    <p:extLst>
      <p:ext uri="{BB962C8B-B14F-4D97-AF65-F5344CB8AC3E}">
        <p14:creationId xmlns:p14="http://schemas.microsoft.com/office/powerpoint/2010/main" val="707752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white background with black text&#10;&#10;AI-generated content may be incorrect.">
            <a:extLst>
              <a:ext uri="{FF2B5EF4-FFF2-40B4-BE49-F238E27FC236}">
                <a16:creationId xmlns:a16="http://schemas.microsoft.com/office/drawing/2014/main" id="{0BBF3431-C2D1-5466-9799-184CB00B7EEA}"/>
              </a:ext>
            </a:extLst>
          </p:cNvPr>
          <p:cNvPicPr>
            <a:picLocks noChangeAspect="1"/>
          </p:cNvPicPr>
          <p:nvPr/>
        </p:nvPicPr>
        <p:blipFill>
          <a:blip r:embed="rId2"/>
          <a:stretch>
            <a:fillRect/>
          </a:stretch>
        </p:blipFill>
        <p:spPr>
          <a:xfrm>
            <a:off x="2139863" y="1043872"/>
            <a:ext cx="7265096" cy="1075078"/>
          </a:xfrm>
          <a:prstGeom prst="rect">
            <a:avLst/>
          </a:prstGeom>
        </p:spPr>
      </p:pic>
      <p:sp>
        <p:nvSpPr>
          <p:cNvPr id="3" name="TextBox 2">
            <a:extLst>
              <a:ext uri="{FF2B5EF4-FFF2-40B4-BE49-F238E27FC236}">
                <a16:creationId xmlns:a16="http://schemas.microsoft.com/office/drawing/2014/main" id="{9C385A47-9F40-83EB-6231-6D238E5DF2C6}"/>
              </a:ext>
            </a:extLst>
          </p:cNvPr>
          <p:cNvSpPr txBox="1"/>
          <p:nvPr/>
        </p:nvSpPr>
        <p:spPr>
          <a:xfrm>
            <a:off x="471400" y="2313214"/>
            <a:ext cx="11252319"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rgbClr val="00B0F0"/>
                </a:solidFill>
              </a:rPr>
              <a:t>1. Total Credit &amp; Debit Amount</a:t>
            </a:r>
            <a:endParaRPr lang="en-US" sz="1600" dirty="0">
              <a:solidFill>
                <a:srgbClr val="00B0F0"/>
              </a:solidFill>
              <a:ea typeface="Calibri"/>
              <a:cs typeface="Calibri"/>
            </a:endParaRPr>
          </a:p>
          <a:p>
            <a:r>
              <a:rPr lang="en-US" sz="1600" dirty="0">
                <a:ea typeface="+mn-lt"/>
                <a:cs typeface="+mn-lt"/>
              </a:rPr>
              <a:t>Both Credit (₹84.66M) and Debit (₹84.62M) amounts are nearly equal, showing a balanced inflow and outflow of funds — a sign of stable liquidity and healthy banking activity.</a:t>
            </a:r>
            <a:endParaRPr lang="en-US" sz="1600" dirty="0">
              <a:ea typeface="Calibri"/>
              <a:cs typeface="Calibri"/>
            </a:endParaRPr>
          </a:p>
          <a:p>
            <a:endParaRPr lang="en-US" sz="1600" dirty="0">
              <a:ea typeface="Calibri"/>
              <a:cs typeface="Calibri"/>
            </a:endParaRPr>
          </a:p>
          <a:p>
            <a:r>
              <a:rPr lang="en-US" sz="1600" b="1" dirty="0">
                <a:solidFill>
                  <a:srgbClr val="00B0F0"/>
                </a:solidFill>
              </a:rPr>
              <a:t>2. Credit to Debit Ratio</a:t>
            </a:r>
            <a:endParaRPr lang="en-US" sz="1600" dirty="0">
              <a:solidFill>
                <a:srgbClr val="00B0F0"/>
              </a:solidFill>
              <a:ea typeface="Calibri"/>
              <a:cs typeface="Calibri"/>
            </a:endParaRPr>
          </a:p>
          <a:p>
            <a:r>
              <a:rPr lang="en-US" sz="1600" dirty="0">
                <a:ea typeface="+mn-lt"/>
                <a:cs typeface="+mn-lt"/>
              </a:rPr>
              <a:t>A 1.00 ratio highlights that credits and debits are perfectly balanced, indicating consistent customer transaction behavior without major liquidity fluctuations.</a:t>
            </a:r>
            <a:endParaRPr lang="en-US" sz="1600" dirty="0">
              <a:ea typeface="Calibri"/>
              <a:cs typeface="Calibri"/>
            </a:endParaRPr>
          </a:p>
          <a:p>
            <a:endParaRPr lang="en-US" sz="1600" dirty="0">
              <a:ea typeface="Calibri"/>
              <a:cs typeface="Calibri"/>
            </a:endParaRPr>
          </a:p>
          <a:p>
            <a:r>
              <a:rPr lang="en-US" sz="1600" b="1" dirty="0">
                <a:solidFill>
                  <a:srgbClr val="00B0F0"/>
                </a:solidFill>
              </a:rPr>
              <a:t>3. Net Transaction Amount</a:t>
            </a:r>
            <a:endParaRPr lang="en-US" sz="1600" dirty="0">
              <a:solidFill>
                <a:srgbClr val="00B0F0"/>
              </a:solidFill>
              <a:ea typeface="Calibri"/>
              <a:cs typeface="Calibri"/>
            </a:endParaRPr>
          </a:p>
          <a:p>
            <a:r>
              <a:rPr lang="en-US" sz="1600" dirty="0">
                <a:ea typeface="+mn-lt"/>
                <a:cs typeface="+mn-lt"/>
              </a:rPr>
              <a:t>The small positive net value (₹0.04M) reveals slightly higher deposits than withdrawals, suggesting strong fund retention and customer trust in the bank.</a:t>
            </a:r>
            <a:endParaRPr lang="en-US" sz="1600" dirty="0">
              <a:ea typeface="Calibri"/>
              <a:cs typeface="Calibri"/>
            </a:endParaRPr>
          </a:p>
          <a:p>
            <a:endParaRPr lang="en-US" sz="1600" dirty="0">
              <a:ea typeface="Calibri"/>
              <a:cs typeface="Calibri"/>
            </a:endParaRPr>
          </a:p>
          <a:p>
            <a:r>
              <a:rPr lang="en-US" sz="1600" b="1" dirty="0">
                <a:solidFill>
                  <a:srgbClr val="00B0F0"/>
                </a:solidFill>
              </a:rPr>
              <a:t>4. Account Activity Ratio</a:t>
            </a:r>
            <a:endParaRPr lang="en-US" sz="1600" dirty="0">
              <a:solidFill>
                <a:srgbClr val="00B0F0"/>
              </a:solidFill>
              <a:ea typeface="Calibri"/>
              <a:cs typeface="Calibri"/>
            </a:endParaRPr>
          </a:p>
          <a:p>
            <a:r>
              <a:rPr lang="en-US" sz="1600" dirty="0">
                <a:ea typeface="+mn-lt"/>
                <a:cs typeface="+mn-lt"/>
              </a:rPr>
              <a:t>An activity ratio of 0.000190 reflects moderate account engagement, implying that while most accounts are active, there’s scope to boost transactional frequency.</a:t>
            </a:r>
            <a:endParaRPr lang="en-US" sz="1600" dirty="0">
              <a:ea typeface="Calibri"/>
              <a:cs typeface="Calibri"/>
            </a:endParaRPr>
          </a:p>
        </p:txBody>
      </p:sp>
      <p:sp>
        <p:nvSpPr>
          <p:cNvPr id="4" name="TextBox 3">
            <a:extLst>
              <a:ext uri="{FF2B5EF4-FFF2-40B4-BE49-F238E27FC236}">
                <a16:creationId xmlns:a16="http://schemas.microsoft.com/office/drawing/2014/main" id="{0CB68135-BF31-443D-F91B-45D680C2087C}"/>
              </a:ext>
            </a:extLst>
          </p:cNvPr>
          <p:cNvSpPr txBox="1"/>
          <p:nvPr/>
        </p:nvSpPr>
        <p:spPr>
          <a:xfrm>
            <a:off x="467092" y="362433"/>
            <a:ext cx="769542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solidFill>
                  <a:schemeClr val="accent1"/>
                </a:solidFill>
                <a:ea typeface="Calibri"/>
                <a:cs typeface="Calibri"/>
              </a:rPr>
              <a:t>ANALYSIS – </a:t>
            </a:r>
            <a:r>
              <a:rPr lang="en-US" sz="2400" b="1" dirty="0">
                <a:solidFill>
                  <a:schemeClr val="accent1"/>
                </a:solidFill>
                <a:ea typeface="Calibri"/>
                <a:cs typeface="Calibri"/>
              </a:rPr>
              <a:t>CREDIT AND DEBIT ANALYSIS</a:t>
            </a:r>
          </a:p>
        </p:txBody>
      </p:sp>
    </p:spTree>
    <p:extLst>
      <p:ext uri="{BB962C8B-B14F-4D97-AF65-F5344CB8AC3E}">
        <p14:creationId xmlns:p14="http://schemas.microsoft.com/office/powerpoint/2010/main" val="2624389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A3FDAD-BA24-EAFE-11B7-83D4B4BAC023}"/>
              </a:ext>
            </a:extLst>
          </p:cNvPr>
          <p:cNvSpPr txBox="1">
            <a:spLocks/>
          </p:cNvSpPr>
          <p:nvPr/>
        </p:nvSpPr>
        <p:spPr>
          <a:xfrm>
            <a:off x="1097278" y="457433"/>
            <a:ext cx="4749870" cy="5411661"/>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en-US" sz="1800" b="1" dirty="0">
                <a:solidFill>
                  <a:srgbClr val="00B0F0"/>
                </a:solidFill>
              </a:rPr>
              <a:t>Transaction Method Distribution</a:t>
            </a:r>
            <a:endParaRPr lang="en-US" sz="1800" dirty="0">
              <a:solidFill>
                <a:srgbClr val="00B0F0"/>
              </a:solidFill>
              <a:ea typeface="Calibri" panose="020F0502020204030204"/>
              <a:cs typeface="Calibri" panose="020F0502020204030204"/>
            </a:endParaRPr>
          </a:p>
          <a:p>
            <a:pPr>
              <a:buFont typeface="Wingdings" panose="020F0502020204030204" pitchFamily="34" charset="0"/>
              <a:buChar char="v"/>
            </a:pPr>
            <a:r>
              <a:rPr lang="en-US" sz="1800" dirty="0">
                <a:ea typeface="+mn-lt"/>
                <a:cs typeface="+mn-lt"/>
              </a:rPr>
              <a:t>The distribution among Credit Card (33.6%), Debit Card (33.2%), and Bank Transfer (33.2%) is evenly split.</a:t>
            </a:r>
          </a:p>
          <a:p>
            <a:pPr>
              <a:buFont typeface="Wingdings" panose="020F0502020204030204" pitchFamily="34" charset="0"/>
              <a:buChar char="v"/>
            </a:pPr>
            <a:r>
              <a:rPr lang="en-US" sz="1800" dirty="0">
                <a:ea typeface="+mn-lt"/>
                <a:cs typeface="+mn-lt"/>
              </a:rPr>
              <a:t>This indicates diversified customer preferences and strong adoption of multiple payment channels.</a:t>
            </a:r>
            <a:endParaRPr lang="en-US" sz="1800" dirty="0">
              <a:ea typeface="Calibri" panose="020F0502020204030204"/>
              <a:cs typeface="Calibri" panose="020F0502020204030204"/>
            </a:endParaRPr>
          </a:p>
          <a:p>
            <a:pPr>
              <a:buFont typeface="Wingdings" panose="020F0502020204030204" pitchFamily="34" charset="0"/>
              <a:buChar char="v"/>
            </a:pPr>
            <a:endParaRPr lang="en-US" sz="1800" dirty="0">
              <a:ea typeface="Calibri" panose="020F0502020204030204"/>
              <a:cs typeface="Calibri" panose="020F0502020204030204"/>
            </a:endParaRPr>
          </a:p>
          <a:p>
            <a:pPr marL="0" indent="0">
              <a:buFont typeface="Calibri" panose="020F0502020204030204" pitchFamily="34" charset="0"/>
              <a:buNone/>
            </a:pPr>
            <a:endParaRPr lang="en-US" dirty="0">
              <a:ea typeface="Calibri"/>
              <a:cs typeface="Calibri"/>
            </a:endParaRPr>
          </a:p>
        </p:txBody>
      </p:sp>
      <p:sp>
        <p:nvSpPr>
          <p:cNvPr id="5" name="Text Placeholder 3">
            <a:extLst>
              <a:ext uri="{FF2B5EF4-FFF2-40B4-BE49-F238E27FC236}">
                <a16:creationId xmlns:a16="http://schemas.microsoft.com/office/drawing/2014/main" id="{8DE4DE32-CADA-D677-B0C0-366755F5C83D}"/>
              </a:ext>
            </a:extLst>
          </p:cNvPr>
          <p:cNvSpPr txBox="1">
            <a:spLocks/>
          </p:cNvSpPr>
          <p:nvPr/>
        </p:nvSpPr>
        <p:spPr>
          <a:xfrm>
            <a:off x="6217920" y="457434"/>
            <a:ext cx="5240473" cy="5411661"/>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r>
              <a:rPr lang="en-US" sz="1800" b="1" dirty="0">
                <a:solidFill>
                  <a:srgbClr val="00B0F0"/>
                </a:solidFill>
              </a:rPr>
              <a:t>Transaction Volume by Bank</a:t>
            </a:r>
            <a:endParaRPr lang="en-US" sz="1800" dirty="0">
              <a:solidFill>
                <a:srgbClr val="00B0F0"/>
              </a:solidFill>
              <a:ea typeface="Calibri" panose="020F0502020204030204"/>
              <a:cs typeface="Calibri" panose="020F0502020204030204"/>
            </a:endParaRPr>
          </a:p>
          <a:p>
            <a:pPr>
              <a:buFont typeface="Wingdings" panose="020F0502020204030204" pitchFamily="34" charset="0"/>
              <a:buChar char="v"/>
            </a:pPr>
            <a:r>
              <a:rPr lang="en-US" sz="1800" dirty="0">
                <a:ea typeface="+mn-lt"/>
                <a:cs typeface="+mn-lt"/>
              </a:rPr>
              <a:t>Axis Bank and HDFC Bank lead in total transaction amounts, highlighting customer trust and higher engagement levels in these banks.</a:t>
            </a:r>
          </a:p>
          <a:p>
            <a:pPr>
              <a:buFont typeface="Wingdings" panose="020F0502020204030204" pitchFamily="34" charset="0"/>
              <a:buChar char="v"/>
            </a:pPr>
            <a:r>
              <a:rPr lang="en-US" sz="1800" dirty="0">
                <a:ea typeface="+mn-lt"/>
                <a:cs typeface="+mn-lt"/>
              </a:rPr>
              <a:t>Other banks maintain steady participation, contributing to overall balance in activity.</a:t>
            </a:r>
            <a:endParaRPr lang="en-US" sz="1800" dirty="0">
              <a:ea typeface="Calibri" panose="020F0502020204030204"/>
              <a:cs typeface="Calibri" panose="020F0502020204030204"/>
            </a:endParaRPr>
          </a:p>
          <a:p>
            <a:pPr>
              <a:buFont typeface="Wingdings" panose="020F0502020204030204" pitchFamily="34" charset="0"/>
              <a:buChar char="v"/>
            </a:pPr>
            <a:endParaRPr lang="en-US" dirty="0">
              <a:ea typeface="Calibri"/>
              <a:cs typeface="Calibri"/>
            </a:endParaRPr>
          </a:p>
        </p:txBody>
      </p:sp>
      <p:pic>
        <p:nvPicPr>
          <p:cNvPr id="7" name="Picture 6" descr="A diagram of a payment method&#10;&#10;AI-generated content may be incorrect.">
            <a:extLst>
              <a:ext uri="{FF2B5EF4-FFF2-40B4-BE49-F238E27FC236}">
                <a16:creationId xmlns:a16="http://schemas.microsoft.com/office/drawing/2014/main" id="{E0D30B00-1F0D-9884-400C-BE22EB7080E3}"/>
              </a:ext>
            </a:extLst>
          </p:cNvPr>
          <p:cNvPicPr>
            <a:picLocks noChangeAspect="1"/>
          </p:cNvPicPr>
          <p:nvPr/>
        </p:nvPicPr>
        <p:blipFill>
          <a:blip r:embed="rId2"/>
          <a:stretch>
            <a:fillRect/>
          </a:stretch>
        </p:blipFill>
        <p:spPr>
          <a:xfrm>
            <a:off x="1224615" y="3155842"/>
            <a:ext cx="4095619" cy="2258209"/>
          </a:xfrm>
          <a:prstGeom prst="rect">
            <a:avLst/>
          </a:prstGeom>
        </p:spPr>
      </p:pic>
      <p:pic>
        <p:nvPicPr>
          <p:cNvPr id="9" name="Picture 8" descr="A screenshot of a graph&#10;&#10;AI-generated content may be incorrect.">
            <a:extLst>
              <a:ext uri="{FF2B5EF4-FFF2-40B4-BE49-F238E27FC236}">
                <a16:creationId xmlns:a16="http://schemas.microsoft.com/office/drawing/2014/main" id="{E89EFDC2-3E7E-9660-90FE-65904692369A}"/>
              </a:ext>
            </a:extLst>
          </p:cNvPr>
          <p:cNvPicPr>
            <a:picLocks noChangeAspect="1"/>
          </p:cNvPicPr>
          <p:nvPr/>
        </p:nvPicPr>
        <p:blipFill>
          <a:blip r:embed="rId3"/>
          <a:stretch>
            <a:fillRect/>
          </a:stretch>
        </p:blipFill>
        <p:spPr>
          <a:xfrm>
            <a:off x="6216758" y="3158777"/>
            <a:ext cx="4487059" cy="2273213"/>
          </a:xfrm>
          <a:prstGeom prst="rect">
            <a:avLst/>
          </a:prstGeom>
        </p:spPr>
      </p:pic>
    </p:spTree>
    <p:extLst>
      <p:ext uri="{BB962C8B-B14F-4D97-AF65-F5344CB8AC3E}">
        <p14:creationId xmlns:p14="http://schemas.microsoft.com/office/powerpoint/2010/main" val="1274366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63561E-9D00-B2F0-3D1E-2A137CACECBF}"/>
              </a:ext>
            </a:extLst>
          </p:cNvPr>
          <p:cNvSpPr txBox="1"/>
          <p:nvPr/>
        </p:nvSpPr>
        <p:spPr>
          <a:xfrm>
            <a:off x="826053" y="476030"/>
            <a:ext cx="483031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F0"/>
                </a:solidFill>
                <a:ea typeface="+mn-lt"/>
                <a:cs typeface="+mn-lt"/>
              </a:rPr>
              <a:t>Transactions per Day/Week/Month</a:t>
            </a:r>
            <a:endParaRPr lang="en-US" b="1" dirty="0">
              <a:solidFill>
                <a:srgbClr val="00B0F0"/>
              </a:solidFill>
            </a:endParaRPr>
          </a:p>
          <a:p>
            <a:endParaRPr lang="en-US" dirty="0">
              <a:ea typeface="+mn-lt"/>
              <a:cs typeface="+mn-lt"/>
            </a:endParaRPr>
          </a:p>
          <a:p>
            <a:pPr marL="285750" indent="-285750">
              <a:buFont typeface="Wingdings"/>
              <a:buChar char="v"/>
            </a:pPr>
            <a:r>
              <a:rPr lang="en-US" dirty="0">
                <a:ea typeface="+mn-lt"/>
                <a:cs typeface="+mn-lt"/>
              </a:rPr>
              <a:t>From January to November, the transaction volume shows regular fluctuations, indicating consistent customer engagement with occasional ups and downs. </a:t>
            </a:r>
            <a:endParaRPr lang="en-US">
              <a:ea typeface="Calibri"/>
              <a:cs typeface="Calibri"/>
            </a:endParaRPr>
          </a:p>
          <a:p>
            <a:pPr marL="285750" indent="-285750">
              <a:buFont typeface="Wingdings"/>
              <a:buChar char="v"/>
            </a:pPr>
            <a:r>
              <a:rPr lang="en-US" dirty="0">
                <a:ea typeface="+mn-lt"/>
                <a:cs typeface="+mn-lt"/>
              </a:rPr>
              <a:t>However, from November to December, there is a significant decline in transactions, suggesting a potential slowdown in customer activity .</a:t>
            </a:r>
          </a:p>
          <a:p>
            <a:endParaRPr lang="en-US" dirty="0">
              <a:ea typeface="Calibri" panose="020F0502020204030204"/>
              <a:cs typeface="Calibri" panose="020F0502020204030204"/>
            </a:endParaRPr>
          </a:p>
          <a:p>
            <a:pPr>
              <a:buFont typeface="Wingdings"/>
            </a:pPr>
            <a:endParaRPr lang="en-US" dirty="0">
              <a:ea typeface="Calibri" panose="020F0502020204030204"/>
              <a:cs typeface="Calibri" panose="020F0502020204030204"/>
            </a:endParaRPr>
          </a:p>
        </p:txBody>
      </p:sp>
      <p:pic>
        <p:nvPicPr>
          <p:cNvPr id="3" name="Picture 2" descr="A screenshot of a graph&#10;&#10;AI-generated content may be incorrect.">
            <a:extLst>
              <a:ext uri="{FF2B5EF4-FFF2-40B4-BE49-F238E27FC236}">
                <a16:creationId xmlns:a16="http://schemas.microsoft.com/office/drawing/2014/main" id="{7ABCB8E1-83AF-05D0-D64B-F73B9663EE2A}"/>
              </a:ext>
            </a:extLst>
          </p:cNvPr>
          <p:cNvPicPr>
            <a:picLocks noChangeAspect="1"/>
          </p:cNvPicPr>
          <p:nvPr/>
        </p:nvPicPr>
        <p:blipFill>
          <a:blip r:embed="rId2"/>
          <a:stretch>
            <a:fillRect/>
          </a:stretch>
        </p:blipFill>
        <p:spPr>
          <a:xfrm>
            <a:off x="1171444" y="3549237"/>
            <a:ext cx="4128893" cy="2181225"/>
          </a:xfrm>
          <a:prstGeom prst="rect">
            <a:avLst/>
          </a:prstGeom>
        </p:spPr>
      </p:pic>
      <p:sp>
        <p:nvSpPr>
          <p:cNvPr id="4" name="TextBox 3">
            <a:extLst>
              <a:ext uri="{FF2B5EF4-FFF2-40B4-BE49-F238E27FC236}">
                <a16:creationId xmlns:a16="http://schemas.microsoft.com/office/drawing/2014/main" id="{8B552DEA-3539-B87D-1981-5467FFCCAF69}"/>
              </a:ext>
            </a:extLst>
          </p:cNvPr>
          <p:cNvSpPr txBox="1"/>
          <p:nvPr/>
        </p:nvSpPr>
        <p:spPr>
          <a:xfrm>
            <a:off x="6230406" y="546036"/>
            <a:ext cx="4942323"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F0"/>
                </a:solidFill>
              </a:rPr>
              <a:t>Total Transaction Amount by Branch</a:t>
            </a:r>
            <a:endParaRPr lang="en-US" dirty="0">
              <a:solidFill>
                <a:srgbClr val="00B0F0"/>
              </a:solidFill>
            </a:endParaRPr>
          </a:p>
          <a:p>
            <a:endParaRPr lang="en-US" b="1" dirty="0">
              <a:ea typeface="+mn-lt"/>
              <a:cs typeface="+mn-lt"/>
            </a:endParaRPr>
          </a:p>
          <a:p>
            <a:pPr marL="285750" indent="-285750">
              <a:buFont typeface="Wingdings"/>
              <a:buChar char="v"/>
            </a:pPr>
            <a:r>
              <a:rPr lang="en-US" dirty="0">
                <a:ea typeface="+mn-lt"/>
                <a:cs typeface="+mn-lt"/>
              </a:rPr>
              <a:t>The Main (₹42.84M), East (₹42.70M), and City Center (₹42.91M) branches lead in performance.</a:t>
            </a:r>
          </a:p>
          <a:p>
            <a:pPr marL="285750" indent="-285750">
              <a:buFont typeface="Wingdings"/>
              <a:buChar char="v"/>
            </a:pPr>
            <a:r>
              <a:rPr lang="en-US" dirty="0">
                <a:ea typeface="+mn-lt"/>
                <a:cs typeface="+mn-lt"/>
              </a:rPr>
              <a:t> Indicates even revenue contribution across major branches and strong branch-level operations.</a:t>
            </a:r>
            <a:endParaRPr lang="en-US">
              <a:ea typeface="Calibri"/>
              <a:cs typeface="Calibri"/>
            </a:endParaRPr>
          </a:p>
          <a:p>
            <a:pPr algn="l"/>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5" name="Picture 4">
            <a:extLst>
              <a:ext uri="{FF2B5EF4-FFF2-40B4-BE49-F238E27FC236}">
                <a16:creationId xmlns:a16="http://schemas.microsoft.com/office/drawing/2014/main" id="{9C83C3A1-7E23-7C0E-DCF9-AA610B48D52F}"/>
              </a:ext>
            </a:extLst>
          </p:cNvPr>
          <p:cNvPicPr>
            <a:picLocks noChangeAspect="1"/>
          </p:cNvPicPr>
          <p:nvPr/>
        </p:nvPicPr>
        <p:blipFill>
          <a:blip r:embed="rId3"/>
          <a:stretch>
            <a:fillRect/>
          </a:stretch>
        </p:blipFill>
        <p:spPr>
          <a:xfrm>
            <a:off x="6554114" y="3552694"/>
            <a:ext cx="3958485" cy="2174310"/>
          </a:xfrm>
          <a:prstGeom prst="rect">
            <a:avLst/>
          </a:prstGeom>
        </p:spPr>
      </p:pic>
    </p:spTree>
    <p:extLst>
      <p:ext uri="{BB962C8B-B14F-4D97-AF65-F5344CB8AC3E}">
        <p14:creationId xmlns:p14="http://schemas.microsoft.com/office/powerpoint/2010/main" val="633492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02FB27-B623-1913-C872-A2683EDC240A}"/>
              </a:ext>
            </a:extLst>
          </p:cNvPr>
          <p:cNvSpPr txBox="1"/>
          <p:nvPr/>
        </p:nvSpPr>
        <p:spPr>
          <a:xfrm>
            <a:off x="686044" y="686044"/>
            <a:ext cx="488631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F0"/>
                </a:solidFill>
              </a:rPr>
              <a:t>High-Risk Transaction Flag</a:t>
            </a:r>
            <a:endParaRPr lang="en-US" dirty="0">
              <a:solidFill>
                <a:srgbClr val="00B0F0"/>
              </a:solidFill>
            </a:endParaRPr>
          </a:p>
          <a:p>
            <a:endParaRPr lang="en-US" b="1" dirty="0">
              <a:ea typeface="+mn-lt"/>
              <a:cs typeface="+mn-lt"/>
            </a:endParaRPr>
          </a:p>
          <a:p>
            <a:pPr marL="285750" indent="-285750">
              <a:buFont typeface="Wingdings"/>
              <a:buChar char="v"/>
            </a:pPr>
            <a:r>
              <a:rPr lang="en-US" dirty="0">
                <a:ea typeface="+mn-lt"/>
                <a:cs typeface="+mn-lt"/>
              </a:rPr>
              <a:t>Out of total transactions, 13,260 are flagged as High-Risk, while 53,294 are normal.</a:t>
            </a:r>
          </a:p>
          <a:p>
            <a:pPr marL="285750" indent="-285750">
              <a:buFont typeface="Wingdings"/>
              <a:buChar char="v"/>
            </a:pPr>
            <a:r>
              <a:rPr lang="en-US" dirty="0">
                <a:ea typeface="+mn-lt"/>
                <a:cs typeface="+mn-lt"/>
              </a:rPr>
              <a:t>High-risk activity is not dominant but still notable, suggesting a need for continuous fraud monitoring.</a:t>
            </a:r>
            <a:endParaRPr lang="en-US">
              <a:ea typeface="Calibri"/>
              <a:cs typeface="Calibri"/>
            </a:endParaRPr>
          </a:p>
          <a:p>
            <a:pPr algn="l"/>
            <a:endParaRPr lang="en-US" dirty="0">
              <a:ea typeface="Calibri"/>
              <a:cs typeface="Calibri"/>
            </a:endParaRPr>
          </a:p>
          <a:p>
            <a:endParaRPr lang="en-US" dirty="0">
              <a:ea typeface="Calibri"/>
              <a:cs typeface="Calibri"/>
            </a:endParaRPr>
          </a:p>
        </p:txBody>
      </p:sp>
      <p:pic>
        <p:nvPicPr>
          <p:cNvPr id="3" name="Picture 2" descr="A screenshot of a computer&#10;&#10;AI-generated content may be incorrect.">
            <a:extLst>
              <a:ext uri="{FF2B5EF4-FFF2-40B4-BE49-F238E27FC236}">
                <a16:creationId xmlns:a16="http://schemas.microsoft.com/office/drawing/2014/main" id="{8453BD00-AC3C-3656-7B60-6CAAD89FCDB9}"/>
              </a:ext>
            </a:extLst>
          </p:cNvPr>
          <p:cNvPicPr>
            <a:picLocks noChangeAspect="1"/>
          </p:cNvPicPr>
          <p:nvPr/>
        </p:nvPicPr>
        <p:blipFill>
          <a:blip r:embed="rId2"/>
          <a:stretch>
            <a:fillRect/>
          </a:stretch>
        </p:blipFill>
        <p:spPr>
          <a:xfrm>
            <a:off x="1038225" y="3829963"/>
            <a:ext cx="4019550" cy="2266950"/>
          </a:xfrm>
          <a:prstGeom prst="rect">
            <a:avLst/>
          </a:prstGeom>
        </p:spPr>
      </p:pic>
      <p:sp>
        <p:nvSpPr>
          <p:cNvPr id="4" name="TextBox 3">
            <a:extLst>
              <a:ext uri="{FF2B5EF4-FFF2-40B4-BE49-F238E27FC236}">
                <a16:creationId xmlns:a16="http://schemas.microsoft.com/office/drawing/2014/main" id="{9BA2766D-9154-ED9C-E5AA-74432CFF5448}"/>
              </a:ext>
            </a:extLst>
          </p:cNvPr>
          <p:cNvSpPr txBox="1"/>
          <p:nvPr/>
        </p:nvSpPr>
        <p:spPr>
          <a:xfrm>
            <a:off x="6268775" y="683729"/>
            <a:ext cx="5677639"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F0"/>
                </a:solidFill>
              </a:rPr>
              <a:t>Branch Transaction Growth</a:t>
            </a:r>
            <a:endParaRPr lang="en-US" dirty="0">
              <a:solidFill>
                <a:srgbClr val="00B0F0"/>
              </a:solidFill>
            </a:endParaRPr>
          </a:p>
          <a:p>
            <a:endParaRPr lang="en-US" b="1" dirty="0">
              <a:solidFill>
                <a:srgbClr val="00B0F0"/>
              </a:solidFill>
              <a:ea typeface="+mn-lt"/>
              <a:cs typeface="+mn-lt"/>
            </a:endParaRPr>
          </a:p>
          <a:p>
            <a:pPr marL="285750" indent="-285750">
              <a:buFont typeface="Wingdings"/>
              <a:buChar char="v"/>
            </a:pPr>
            <a:r>
              <a:rPr lang="en-US" dirty="0">
                <a:ea typeface="+mn-lt"/>
                <a:cs typeface="+mn-lt"/>
              </a:rPr>
              <a:t>Main Branch: Grew steadily till August, then declined in Q4 (–97.5%).</a:t>
            </a:r>
            <a:endParaRPr lang="en-US">
              <a:ea typeface="Calibri"/>
              <a:cs typeface="Calibri"/>
            </a:endParaRPr>
          </a:p>
          <a:p>
            <a:pPr marL="285750" indent="-285750">
              <a:buFont typeface="Wingdings"/>
              <a:buChar char="v"/>
            </a:pPr>
            <a:r>
              <a:rPr lang="en-US" dirty="0">
                <a:ea typeface="+mn-lt"/>
                <a:cs typeface="+mn-lt"/>
              </a:rPr>
              <a:t>Downtown Branch: Moderate fluctuations with similar year-end dip.</a:t>
            </a:r>
            <a:endParaRPr lang="en-US">
              <a:ea typeface="Calibri"/>
              <a:cs typeface="Calibri"/>
            </a:endParaRPr>
          </a:p>
          <a:p>
            <a:pPr marL="285750" indent="-285750">
              <a:buFont typeface="Wingdings"/>
              <a:buChar char="v"/>
            </a:pPr>
            <a:r>
              <a:rPr lang="en-US" dirty="0">
                <a:ea typeface="+mn-lt"/>
                <a:cs typeface="+mn-lt"/>
              </a:rPr>
              <a:t>Suburban Branch: Shows strongest growth mid-year (+14.2% in July).</a:t>
            </a:r>
          </a:p>
          <a:p>
            <a:pPr marL="285750" indent="-285750">
              <a:buFont typeface="Wingdings"/>
              <a:buChar char="v"/>
            </a:pPr>
            <a:r>
              <a:rPr lang="en-US" dirty="0">
                <a:ea typeface="+mn-lt"/>
                <a:cs typeface="+mn-lt"/>
              </a:rPr>
              <a:t>Branches perform well during mid-year, but sharp declines in Nov–Dec indicate seasonal or operational slowdown.</a:t>
            </a:r>
            <a:endParaRPr lang="en-US">
              <a:ea typeface="Calibri"/>
              <a:cs typeface="Calibri"/>
            </a:endParaRPr>
          </a:p>
          <a:p>
            <a:pPr algn="l"/>
            <a:endParaRPr lang="en-US" dirty="0">
              <a:ea typeface="Calibri"/>
              <a:cs typeface="Calibri"/>
            </a:endParaRPr>
          </a:p>
        </p:txBody>
      </p:sp>
      <p:pic>
        <p:nvPicPr>
          <p:cNvPr id="5" name="Picture 4" descr="A screen shot of a graph&#10;&#10;AI-generated content may be incorrect.">
            <a:extLst>
              <a:ext uri="{FF2B5EF4-FFF2-40B4-BE49-F238E27FC236}">
                <a16:creationId xmlns:a16="http://schemas.microsoft.com/office/drawing/2014/main" id="{C0EBF08B-620F-B57F-4C15-1DA6159C773B}"/>
              </a:ext>
            </a:extLst>
          </p:cNvPr>
          <p:cNvPicPr>
            <a:picLocks noChangeAspect="1"/>
          </p:cNvPicPr>
          <p:nvPr/>
        </p:nvPicPr>
        <p:blipFill>
          <a:blip r:embed="rId3"/>
          <a:stretch>
            <a:fillRect/>
          </a:stretch>
        </p:blipFill>
        <p:spPr>
          <a:xfrm>
            <a:off x="6683288" y="3810000"/>
            <a:ext cx="4096794" cy="2286000"/>
          </a:xfrm>
          <a:prstGeom prst="rect">
            <a:avLst/>
          </a:prstGeom>
        </p:spPr>
      </p:pic>
    </p:spTree>
    <p:extLst>
      <p:ext uri="{BB962C8B-B14F-4D97-AF65-F5344CB8AC3E}">
        <p14:creationId xmlns:p14="http://schemas.microsoft.com/office/powerpoint/2010/main" val="3851773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6E6742-2E8B-1321-55BC-B9AA901072D6}"/>
              </a:ext>
            </a:extLst>
          </p:cNvPr>
          <p:cNvSpPr txBox="1"/>
          <p:nvPr/>
        </p:nvSpPr>
        <p:spPr>
          <a:xfrm>
            <a:off x="980063" y="658042"/>
            <a:ext cx="873657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F0"/>
                </a:solidFill>
              </a:rPr>
              <a:t>Suspicious Transaction Frequency</a:t>
            </a:r>
            <a:endParaRPr lang="en-US" dirty="0">
              <a:solidFill>
                <a:srgbClr val="00B0F0"/>
              </a:solidFill>
            </a:endParaRPr>
          </a:p>
          <a:p>
            <a:endParaRPr lang="en-US" b="1" dirty="0">
              <a:ea typeface="+mn-lt"/>
              <a:cs typeface="+mn-lt"/>
            </a:endParaRPr>
          </a:p>
          <a:p>
            <a:pPr marL="285750" indent="-285750">
              <a:buFont typeface="Wingdings"/>
              <a:buChar char="v"/>
            </a:pPr>
            <a:r>
              <a:rPr lang="en-US" dirty="0">
                <a:ea typeface="+mn-lt"/>
                <a:cs typeface="+mn-lt"/>
              </a:rPr>
              <a:t>Suspicious transactions remain steady across all four quarters (Q1–Q4).</a:t>
            </a:r>
          </a:p>
          <a:p>
            <a:endParaRPr lang="en-US" dirty="0">
              <a:ea typeface="+mn-lt"/>
              <a:cs typeface="+mn-lt"/>
            </a:endParaRPr>
          </a:p>
          <a:p>
            <a:pPr marL="285750" indent="-285750">
              <a:buFont typeface="Wingdings"/>
              <a:buChar char="v"/>
            </a:pPr>
            <a:r>
              <a:rPr lang="en-US" dirty="0">
                <a:ea typeface="+mn-lt"/>
                <a:cs typeface="+mn-lt"/>
              </a:rPr>
              <a:t>Suggests consistent monitoring and no significant rise in irregular activity, ensuring operational stability.</a:t>
            </a:r>
            <a:endParaRPr lang="en-US">
              <a:ea typeface="Calibri"/>
              <a:cs typeface="Calibri"/>
            </a:endParaRPr>
          </a:p>
          <a:p>
            <a:pPr algn="l"/>
            <a:endParaRPr lang="en-US" dirty="0">
              <a:ea typeface="Calibri"/>
              <a:cs typeface="Calibri"/>
            </a:endParaRPr>
          </a:p>
          <a:p>
            <a:endParaRPr lang="en-US" dirty="0">
              <a:ea typeface="Calibri"/>
              <a:cs typeface="Calibri"/>
            </a:endParaRPr>
          </a:p>
        </p:txBody>
      </p:sp>
      <p:pic>
        <p:nvPicPr>
          <p:cNvPr id="3" name="Picture 2" descr="A graph of different colored squares&#10;&#10;AI-generated content may be incorrect.">
            <a:extLst>
              <a:ext uri="{FF2B5EF4-FFF2-40B4-BE49-F238E27FC236}">
                <a16:creationId xmlns:a16="http://schemas.microsoft.com/office/drawing/2014/main" id="{6059318C-862C-0101-948B-61AB6173A089}"/>
              </a:ext>
            </a:extLst>
          </p:cNvPr>
          <p:cNvPicPr>
            <a:picLocks noChangeAspect="1"/>
          </p:cNvPicPr>
          <p:nvPr/>
        </p:nvPicPr>
        <p:blipFill>
          <a:blip r:embed="rId2"/>
          <a:stretch>
            <a:fillRect/>
          </a:stretch>
        </p:blipFill>
        <p:spPr>
          <a:xfrm>
            <a:off x="1290638" y="3123091"/>
            <a:ext cx="3514725" cy="2219325"/>
          </a:xfrm>
          <a:prstGeom prst="rect">
            <a:avLst/>
          </a:prstGeom>
        </p:spPr>
      </p:pic>
    </p:spTree>
    <p:extLst>
      <p:ext uri="{BB962C8B-B14F-4D97-AF65-F5344CB8AC3E}">
        <p14:creationId xmlns:p14="http://schemas.microsoft.com/office/powerpoint/2010/main" val="1484601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0F03B-A8A7-A9D8-DB2F-F88DAD299AF5}"/>
              </a:ext>
            </a:extLst>
          </p:cNvPr>
          <p:cNvSpPr>
            <a:spLocks noGrp="1"/>
          </p:cNvSpPr>
          <p:nvPr>
            <p:ph type="title"/>
          </p:nvPr>
        </p:nvSpPr>
        <p:spPr>
          <a:xfrm>
            <a:off x="1097280" y="286603"/>
            <a:ext cx="10058400" cy="1189799"/>
          </a:xfrm>
        </p:spPr>
        <p:txBody>
          <a:bodyPr>
            <a:normAutofit/>
          </a:bodyPr>
          <a:lstStyle/>
          <a:p>
            <a:r>
              <a:rPr lang="en-US" sz="3200" b="1" dirty="0">
                <a:solidFill>
                  <a:schemeClr val="accent1"/>
                </a:solidFill>
                <a:ea typeface="Calibri Light"/>
                <a:cs typeface="Calibri Light"/>
              </a:rPr>
              <a:t>CHALLENGES FACED</a:t>
            </a:r>
          </a:p>
        </p:txBody>
      </p:sp>
      <p:sp>
        <p:nvSpPr>
          <p:cNvPr id="3" name="Content Placeholder 2">
            <a:extLst>
              <a:ext uri="{FF2B5EF4-FFF2-40B4-BE49-F238E27FC236}">
                <a16:creationId xmlns:a16="http://schemas.microsoft.com/office/drawing/2014/main" id="{BBF4DA00-4176-BC78-B9F2-EF998E40E884}"/>
              </a:ext>
            </a:extLst>
          </p:cNvPr>
          <p:cNvSpPr>
            <a:spLocks noGrp="1"/>
          </p:cNvSpPr>
          <p:nvPr>
            <p:ph idx="1"/>
          </p:nvPr>
        </p:nvSpPr>
        <p:spPr>
          <a:xfrm>
            <a:off x="1097280" y="2169323"/>
            <a:ext cx="10058400" cy="2802072"/>
          </a:xfrm>
        </p:spPr>
        <p:txBody>
          <a:bodyPr vert="horz" lIns="0" tIns="45720" rIns="0" bIns="45720" rtlCol="0" anchor="t">
            <a:normAutofit/>
          </a:bodyPr>
          <a:lstStyle/>
          <a:p>
            <a:r>
              <a:rPr lang="en-US" b="1" dirty="0">
                <a:ea typeface="+mn-lt"/>
                <a:cs typeface="+mn-lt"/>
              </a:rPr>
              <a:t>1</a:t>
            </a:r>
            <a:r>
              <a:rPr lang="en-US" sz="2400" b="1" dirty="0">
                <a:ea typeface="+mn-lt"/>
                <a:cs typeface="+mn-lt"/>
              </a:rPr>
              <a:t>️. Data Cleaning &amp; Preparation:</a:t>
            </a:r>
            <a:r>
              <a:rPr lang="en-US" sz="2400" dirty="0">
                <a:ea typeface="+mn-lt"/>
                <a:cs typeface="+mn-lt"/>
              </a:rPr>
              <a:t> Faced issues with inconsistent date formats, missing values, and duplicate records, which required manual cleaning before importing into Tableau.</a:t>
            </a:r>
            <a:endParaRPr lang="en-US" sz="2400">
              <a:ea typeface="Calibri"/>
              <a:cs typeface="Calibri"/>
            </a:endParaRPr>
          </a:p>
          <a:p>
            <a:r>
              <a:rPr lang="en-US" sz="2400" b="1" dirty="0">
                <a:ea typeface="+mn-lt"/>
                <a:cs typeface="+mn-lt"/>
              </a:rPr>
              <a:t>2️ .Data Integration &amp; KPI Calculation:</a:t>
            </a:r>
            <a:r>
              <a:rPr lang="en-US" sz="2400" dirty="0">
                <a:ea typeface="+mn-lt"/>
                <a:cs typeface="+mn-lt"/>
              </a:rPr>
              <a:t> Combining multiple datasets (loan and transaction) and creating calculated KPIs like delinquency rate, credit-to-debit ratio, and account activity ratio required careful formula design and validation.</a:t>
            </a:r>
            <a:endParaRPr lang="en-US" sz="2400" dirty="0"/>
          </a:p>
          <a:p>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4160022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4466E-C7B8-06A4-AE07-89FAC39023BF}"/>
              </a:ext>
            </a:extLst>
          </p:cNvPr>
          <p:cNvSpPr>
            <a:spLocks noGrp="1"/>
          </p:cNvSpPr>
          <p:nvPr>
            <p:ph type="title"/>
          </p:nvPr>
        </p:nvSpPr>
        <p:spPr/>
        <p:txBody>
          <a:bodyPr/>
          <a:lstStyle/>
          <a:p>
            <a:r>
              <a:rPr lang="en-US" sz="3200" b="1" dirty="0">
                <a:solidFill>
                  <a:schemeClr val="accent1"/>
                </a:solidFill>
                <a:ea typeface="Calibri Light"/>
                <a:cs typeface="Calibri Light"/>
              </a:rPr>
              <a:t>RECOMMENDATIONS AND INSIGHTS</a:t>
            </a:r>
            <a:endParaRPr lang="en-US" dirty="0"/>
          </a:p>
        </p:txBody>
      </p:sp>
      <p:sp>
        <p:nvSpPr>
          <p:cNvPr id="3" name="Content Placeholder 2">
            <a:extLst>
              <a:ext uri="{FF2B5EF4-FFF2-40B4-BE49-F238E27FC236}">
                <a16:creationId xmlns:a16="http://schemas.microsoft.com/office/drawing/2014/main" id="{C491723D-5028-4AF1-AF7B-64DA77CC59C0}"/>
              </a:ext>
            </a:extLst>
          </p:cNvPr>
          <p:cNvSpPr>
            <a:spLocks noGrp="1"/>
          </p:cNvSpPr>
          <p:nvPr>
            <p:ph idx="1"/>
          </p:nvPr>
        </p:nvSpPr>
        <p:spPr>
          <a:xfrm>
            <a:off x="1097280" y="2262677"/>
            <a:ext cx="10058400" cy="3606417"/>
          </a:xfrm>
        </p:spPr>
        <p:txBody>
          <a:bodyPr vert="horz" lIns="0" tIns="45720" rIns="0" bIns="45720" rtlCol="0" anchor="t">
            <a:normAutofit/>
          </a:bodyPr>
          <a:lstStyle/>
          <a:p>
            <a:pPr>
              <a:buFont typeface="Wingdings" panose="020F0502020204030204" pitchFamily="34" charset="0"/>
              <a:buChar char="Ø"/>
            </a:pPr>
            <a:r>
              <a:rPr lang="en-US" sz="2400" b="1">
                <a:ea typeface="+mn-lt"/>
                <a:cs typeface="+mn-lt"/>
              </a:rPr>
              <a:t>Balanced Financial Performance:</a:t>
            </a:r>
            <a:r>
              <a:rPr lang="en-US" sz="2400" dirty="0">
                <a:ea typeface="+mn-lt"/>
                <a:cs typeface="+mn-lt"/>
              </a:rPr>
              <a:t> Both loan and transaction data show stable credit–debit flow and consistent disbursement trends, reflecting healthy banking operations and steady customer engagement.</a:t>
            </a:r>
            <a:endParaRPr lang="en-US" sz="2400" dirty="0">
              <a:ea typeface="Calibri" panose="020F0502020204030204"/>
              <a:cs typeface="Calibri" panose="020F0502020204030204"/>
            </a:endParaRPr>
          </a:p>
          <a:p>
            <a:pPr>
              <a:buFont typeface="Wingdings" panose="020F0502020204030204" pitchFamily="34" charset="0"/>
              <a:buChar char="Ø"/>
            </a:pPr>
            <a:endParaRPr lang="en-US" sz="2400" dirty="0">
              <a:ea typeface="+mn-lt"/>
              <a:cs typeface="+mn-lt"/>
            </a:endParaRPr>
          </a:p>
          <a:p>
            <a:pPr>
              <a:buFont typeface="Wingdings" panose="020F0502020204030204" pitchFamily="34" charset="0"/>
              <a:buChar char="Ø"/>
            </a:pPr>
            <a:r>
              <a:rPr lang="en-US" sz="2400" b="1" dirty="0">
                <a:ea typeface="+mn-lt"/>
                <a:cs typeface="+mn-lt"/>
              </a:rPr>
              <a:t>Improvement Opportunities:</a:t>
            </a:r>
            <a:r>
              <a:rPr lang="en-US" sz="2400" dirty="0">
                <a:ea typeface="+mn-lt"/>
                <a:cs typeface="+mn-lt"/>
              </a:rPr>
              <a:t> Slight decline in recent transaction activity and moderate account engagement indicate scope for boosting customer retention through targeted offers, digital campaigns, or loyalty programs.</a:t>
            </a:r>
            <a:endParaRPr lang="en-US" sz="2400" dirty="0">
              <a:ea typeface="Calibri" panose="020F0502020204030204"/>
              <a:cs typeface="Calibri" panose="020F0502020204030204"/>
            </a:endParaRPr>
          </a:p>
          <a:p>
            <a:pPr>
              <a:buFont typeface="Wingdings" panose="020F0502020204030204" pitchFamily="34" charset="0"/>
              <a:buChar char="Ø"/>
            </a:pPr>
            <a:endParaRPr lang="en-US" dirty="0">
              <a:ea typeface="Calibri"/>
              <a:cs typeface="Calibri"/>
            </a:endParaRPr>
          </a:p>
        </p:txBody>
      </p:sp>
    </p:spTree>
    <p:extLst>
      <p:ext uri="{BB962C8B-B14F-4D97-AF65-F5344CB8AC3E}">
        <p14:creationId xmlns:p14="http://schemas.microsoft.com/office/powerpoint/2010/main" val="2393329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75C49-D39E-CF5C-3528-D7B729BF4A42}"/>
              </a:ext>
            </a:extLst>
          </p:cNvPr>
          <p:cNvSpPr>
            <a:spLocks noGrp="1"/>
          </p:cNvSpPr>
          <p:nvPr>
            <p:ph type="title"/>
          </p:nvPr>
        </p:nvSpPr>
        <p:spPr/>
        <p:txBody>
          <a:bodyPr/>
          <a:lstStyle/>
          <a:p>
            <a:r>
              <a:rPr lang="en-US" sz="3200" b="1" dirty="0">
                <a:solidFill>
                  <a:schemeClr val="accent1"/>
                </a:solidFill>
                <a:ea typeface="Calibri Light"/>
                <a:cs typeface="Calibri Light"/>
              </a:rPr>
              <a:t>CONCLUSIONS</a:t>
            </a:r>
          </a:p>
        </p:txBody>
      </p:sp>
      <p:sp>
        <p:nvSpPr>
          <p:cNvPr id="3" name="Content Placeholder 2">
            <a:extLst>
              <a:ext uri="{FF2B5EF4-FFF2-40B4-BE49-F238E27FC236}">
                <a16:creationId xmlns:a16="http://schemas.microsoft.com/office/drawing/2014/main" id="{1EF45B79-6B65-FDBC-CA66-516F40B2E467}"/>
              </a:ext>
            </a:extLst>
          </p:cNvPr>
          <p:cNvSpPr>
            <a:spLocks noGrp="1"/>
          </p:cNvSpPr>
          <p:nvPr>
            <p:ph idx="1"/>
          </p:nvPr>
        </p:nvSpPr>
        <p:spPr>
          <a:xfrm>
            <a:off x="1097280" y="2305021"/>
            <a:ext cx="9766126" cy="3564073"/>
          </a:xfrm>
        </p:spPr>
        <p:txBody>
          <a:bodyPr vert="horz" lIns="0" tIns="45720" rIns="0" bIns="45720" rtlCol="0" anchor="t">
            <a:normAutofit/>
          </a:bodyPr>
          <a:lstStyle/>
          <a:p>
            <a:r>
              <a:rPr lang="en-US" sz="2400" dirty="0">
                <a:ea typeface="+mn-lt"/>
                <a:cs typeface="+mn-lt"/>
              </a:rPr>
              <a:t>✅ The dashboard highlights balanced credit–debit activity and steady loan disbursements but reveals seasonal dips and rising delinquency risks.</a:t>
            </a:r>
          </a:p>
          <a:p>
            <a:br>
              <a:rPr lang="en-US" sz="2400" dirty="0">
                <a:ea typeface="+mn-lt"/>
                <a:cs typeface="+mn-lt"/>
              </a:rPr>
            </a:br>
            <a:r>
              <a:rPr lang="en-US" sz="2400" dirty="0">
                <a:ea typeface="+mn-lt"/>
                <a:cs typeface="+mn-lt"/>
              </a:rPr>
              <a:t> ✅ Strengthening customer engagement and tightening credit monitoring can enhance overall financial performance and portfolio stability.</a:t>
            </a:r>
            <a:endParaRPr lang="en-US" sz="2400">
              <a:ea typeface="Calibri"/>
              <a:cs typeface="Calibri"/>
            </a:endParaRPr>
          </a:p>
        </p:txBody>
      </p:sp>
    </p:spTree>
    <p:extLst>
      <p:ext uri="{BB962C8B-B14F-4D97-AF65-F5344CB8AC3E}">
        <p14:creationId xmlns:p14="http://schemas.microsoft.com/office/powerpoint/2010/main" val="3045213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D27CA-6D36-4908-59A0-9290D0265CA4}"/>
              </a:ext>
            </a:extLst>
          </p:cNvPr>
          <p:cNvSpPr>
            <a:spLocks noGrp="1"/>
          </p:cNvSpPr>
          <p:nvPr>
            <p:ph type="title"/>
          </p:nvPr>
        </p:nvSpPr>
        <p:spPr/>
        <p:txBody>
          <a:bodyPr/>
          <a:lstStyle/>
          <a:p>
            <a:r>
              <a:rPr lang="en-US" sz="3200" b="1" dirty="0">
                <a:solidFill>
                  <a:schemeClr val="accent1"/>
                </a:solidFill>
                <a:ea typeface="Calibri Light"/>
                <a:cs typeface="Calibri Light"/>
              </a:rPr>
              <a:t>DASHBOARD SNAPSHOT</a:t>
            </a:r>
          </a:p>
        </p:txBody>
      </p:sp>
      <p:pic>
        <p:nvPicPr>
          <p:cNvPr id="4" name="Content Placeholder 3" descr="A screenshot of a computer&#10;&#10;AI-generated content may be incorrect.">
            <a:extLst>
              <a:ext uri="{FF2B5EF4-FFF2-40B4-BE49-F238E27FC236}">
                <a16:creationId xmlns:a16="http://schemas.microsoft.com/office/drawing/2014/main" id="{126F3944-DD76-2BF4-2306-3304551D20E3}"/>
              </a:ext>
            </a:extLst>
          </p:cNvPr>
          <p:cNvPicPr>
            <a:picLocks noGrp="1" noChangeAspect="1"/>
          </p:cNvPicPr>
          <p:nvPr>
            <p:ph idx="1"/>
          </p:nvPr>
        </p:nvPicPr>
        <p:blipFill>
          <a:blip r:embed="rId2"/>
          <a:srcRect l="14302" t="15803" r="581" b="12176"/>
          <a:stretch>
            <a:fillRect/>
          </a:stretch>
        </p:blipFill>
        <p:spPr>
          <a:xfrm>
            <a:off x="1193174" y="1856172"/>
            <a:ext cx="10064600" cy="4411218"/>
          </a:xfrm>
          <a:prstGeom prst="rect">
            <a:avLst/>
          </a:prstGeom>
        </p:spPr>
      </p:pic>
    </p:spTree>
    <p:extLst>
      <p:ext uri="{BB962C8B-B14F-4D97-AF65-F5344CB8AC3E}">
        <p14:creationId xmlns:p14="http://schemas.microsoft.com/office/powerpoint/2010/main" val="1563075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A99D463B-9558-5DC8-BB38-F52D37B441AB}"/>
              </a:ext>
            </a:extLst>
          </p:cNvPr>
          <p:cNvPicPr>
            <a:picLocks noChangeAspect="1"/>
          </p:cNvPicPr>
          <p:nvPr/>
        </p:nvPicPr>
        <p:blipFill>
          <a:blip r:embed="rId2"/>
          <a:srcRect l="13688" t="14553" r="95" b="12058"/>
          <a:stretch>
            <a:fillRect/>
          </a:stretch>
        </p:blipFill>
        <p:spPr>
          <a:xfrm>
            <a:off x="574109" y="448850"/>
            <a:ext cx="10961721" cy="5597738"/>
          </a:xfrm>
          <a:prstGeom prst="rect">
            <a:avLst/>
          </a:prstGeom>
        </p:spPr>
      </p:pic>
    </p:spTree>
    <p:extLst>
      <p:ext uri="{BB962C8B-B14F-4D97-AF65-F5344CB8AC3E}">
        <p14:creationId xmlns:p14="http://schemas.microsoft.com/office/powerpoint/2010/main" val="3803568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B7475D-E2CD-2646-326D-5C131891F6A2}"/>
              </a:ext>
            </a:extLst>
          </p:cNvPr>
          <p:cNvSpPr txBox="1"/>
          <p:nvPr/>
        </p:nvSpPr>
        <p:spPr>
          <a:xfrm>
            <a:off x="3750218" y="1974129"/>
            <a:ext cx="365626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dirty="0">
                <a:ea typeface="Calibri"/>
                <a:cs typeface="Calibri"/>
              </a:rPr>
              <a:t>THANK YOU</a:t>
            </a:r>
            <a:endParaRPr lang="en-US" sz="5400" b="1" dirty="0"/>
          </a:p>
        </p:txBody>
      </p:sp>
    </p:spTree>
    <p:extLst>
      <p:ext uri="{BB962C8B-B14F-4D97-AF65-F5344CB8AC3E}">
        <p14:creationId xmlns:p14="http://schemas.microsoft.com/office/powerpoint/2010/main" val="3586907211"/>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CA72677B-2F8C-4192-8EBE-D360BE3B20F6}"/>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Retrospect</vt:lpstr>
      <vt:lpstr>PowerPoint Presentation</vt:lpstr>
      <vt:lpstr>INTRODUCTION</vt:lpstr>
      <vt:lpstr>DATA OVERVIEW</vt:lpstr>
      <vt:lpstr>PowerPoint Presentation</vt:lpstr>
      <vt:lpstr>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CHALLENGES FACED</vt:lpstr>
      <vt:lpstr>RECOMMENDATIONS AND INSIGHTS</vt:lpstr>
      <vt:lpstr>CONCLUSIONS</vt:lpstr>
      <vt:lpstr>DASHBOARD SNAPSHOT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822</cp:revision>
  <dcterms:created xsi:type="dcterms:W3CDTF">2025-11-03T12:45:09Z</dcterms:created>
  <dcterms:modified xsi:type="dcterms:W3CDTF">2025-11-07T16:00:43Z</dcterms:modified>
</cp:coreProperties>
</file>